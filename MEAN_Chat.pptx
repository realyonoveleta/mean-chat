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142C1E-7B56-433C-B207-EE8D5A064FCD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F495D3-427E-44D9-8F6D-6C1023A2A61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6321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Presentacion de 20 minutos. Explica problema, arquitectura, decisiones, resultados y mejoras.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495D3-427E-44D9-8F6D-6C1023A2A611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4036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Introduce el contexto: por que no basta con REST para chat y por que WebSocket es clave.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495D3-427E-44D9-8F6D-6C1023A2A611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80651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Separa objetivos funcionales y tecnicos en el discurso para que sea facil de seguir.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495D3-427E-44D9-8F6D-6C1023A2A611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791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Defender limites demuestra criterio de ingenieria y enfoque.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495D3-427E-44D9-8F6D-6C1023A2A611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1742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Resume en una frase: dos canales de comunicacion, REST y Socket.IO.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495D3-427E-44D9-8F6D-6C1023A2A611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40952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Recalca separacion de responsabilidades y por que mejora seguridad y mantenibilidad.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495D3-427E-44D9-8F6D-6C1023A2A611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04099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Explica como Angular ayuda a mantener orden en un proyecto de varias capas.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495D3-427E-44D9-8F6D-6C1023A2A611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75335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Punto fuerte: un backend unificado simplifica despliegue y operacion.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495D3-427E-44D9-8F6D-6C1023A2A611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571666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Alineado al codigo real: Chat usa isGroup y User no define createdAt en el esquema actual.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495D3-427E-44D9-8F6D-6C1023A2A611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5388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Explica JWT sin tecnicismos excesivos: identidad firmada y con expiracion.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495D3-427E-44D9-8F6D-6C1023A2A611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04638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Este flujo muestra dominio de consistencia, seguridad y UX en tiempo real.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495D3-427E-44D9-8F6D-6C1023A2A611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58884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Este ajuste es importante para evitar contradicciones tecnicas en tribunal.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495D3-427E-44D9-8F6D-6C1023A2A611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60098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Relaciona cada evento con un caso funcional visible por el usuario.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495D3-427E-44D9-8F6D-6C1023A2A611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28776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No prometas mas de lo implementado; resalta reproducibilidad del entorno.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495D3-427E-44D9-8F6D-6C1023A2A611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83829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Defensa fuerte: seguridad integrada en la arquitectura, no anadida al final.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495D3-427E-44D9-8F6D-6C1023A2A611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39576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Muestra aprendizaje real: problema, causa, solucion y resultado.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495D3-427E-44D9-8F6D-6C1023A2A611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61734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 honesto con test automatico: hay base, pero no cobertura completa.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495D3-427E-44D9-8F6D-6C1023A2A611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45856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Evita inventar metricas; usa 'dato por confirmar' cuando corresponda.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495D3-427E-44D9-8F6D-6C1023A2A611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11720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Enfoca roadmap en valor y riesgo tecnico, no solo en nuevas features.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495D3-427E-44D9-8F6D-6C1023A2A611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83036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Cierre: no solo funciona, tambien esta bien pensado tecnicamente.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495D3-427E-44D9-8F6D-6C1023A2A611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4180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8F1B6B-440D-0A2D-A453-6FEFEE4E0A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0A436D-198B-9932-1015-72CAE6D8F5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901D05-705C-9E54-E73C-0424927B3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35E4A-633B-46C0-A717-B8AD5923884B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B9BB3F-99D6-5A03-587F-40DB2602F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507625-81A8-06F8-F812-90B16D8B4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5502F-91E3-4515-8258-9737D3217A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1690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58DEB3-E9E7-4B2D-0276-35752D270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CFD02A-7625-BA62-9B84-37D764BF3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48DEAE-BE34-E475-F613-D1ADFB574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35E4A-633B-46C0-A717-B8AD5923884B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54309B-3798-3952-AB92-6CBD99796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D50953-1300-72A8-3D21-96A8E9895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5502F-91E3-4515-8258-9737D3217A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3121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27E331-DB83-3FD9-5C26-52E6EA476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F33AEA-6EE7-C331-FCA8-F949DD22C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D1786E-EC07-355E-B325-7BB1661C6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35E4A-633B-46C0-A717-B8AD5923884B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BC7C5A-217D-6B27-96C3-4E02072D0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A61D06-05F9-3BAB-8E9E-DAA5A9DEA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5502F-91E3-4515-8258-9737D3217A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5788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092CC8-6A6F-2AB7-0564-CE6F401B7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CC1B38-C1FA-C4D1-611E-3BFEE39E39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8F0F37-F249-9E05-38DA-C4F7E8B7A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8D73B78-EF80-D5EF-F597-6A769394A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35E4A-633B-46C0-A717-B8AD5923884B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42041AC-8DA9-7544-FC1F-C56152F93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897234A-2074-5A5C-6D94-A635FADD6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5502F-91E3-4515-8258-9737D3217A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369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3E727-5619-FA25-3F22-FF076F692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6ECDE8A-C4F3-D16D-C424-BA3362F08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A34627A-0FE7-E85B-FD6C-91BFA6625B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D8F5122-805E-2ACF-2A50-8439F70970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95A5E16-BCEC-1BA7-C01E-9C43BCB972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49FCEF7-B250-A19C-3A35-3E8E4A32D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35E4A-633B-46C0-A717-B8AD5923884B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DA44344-EBD5-B892-3029-F4E0FD3AB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C897610-5134-A84C-F02C-7D763B863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5502F-91E3-4515-8258-9737D3217A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8031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15C29B-01AB-F7A5-9E51-F3D9B94D4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1C036D3-5BC3-66A4-0527-BD5754DB3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35E4A-633B-46C0-A717-B8AD5923884B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1E37DD4-6096-DD10-2DA8-F11CD134F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AA3B9-FD2D-ABC1-CD37-560237A5B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5502F-91E3-4515-8258-9737D3217A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3806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CF02076-41FA-6CA7-C120-F0A58668C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35E4A-633B-46C0-A717-B8AD5923884B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4CBAEAC-5E1B-AA00-4C8F-7078278E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C96356B-0554-3658-EF22-014D84A84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5502F-91E3-4515-8258-9737D3217A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4752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80C688-3AA5-CB05-DE1C-3F1DAE324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2076CE-3456-2CCE-12B3-A1991A506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4F58BB8-1D9F-F5E0-B7CB-AB783FFF50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903375-1057-9676-DA38-624E6BA1B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35E4A-633B-46C0-A717-B8AD5923884B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4E3C49-178D-E0A1-F884-957894A0E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436E52-5B63-4784-8F96-55A9D3033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5502F-91E3-4515-8258-9737D3217A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016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41965A-928C-662F-B317-E43836199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F69B345-49C3-3B09-5F16-8E164D5489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20AB42A-5AC5-2E2A-0637-1918B4B9C1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EF2103-4F71-569F-1AA5-B5B7A3B67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35E4A-633B-46C0-A717-B8AD5923884B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43D747E-FF3A-A1AE-D01E-653A64192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AB8C08B-D866-2752-9146-D052228EB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5502F-91E3-4515-8258-9737D3217A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0381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E18C8E-7858-B82F-94B4-DBA0F990C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1BCA3FF-6FDC-3EDD-1B4C-519550BD23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6EE8CB-F215-9433-A265-6444D1C90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35E4A-633B-46C0-A717-B8AD5923884B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AA8F81-3A9C-05DB-39A9-E09BFBBF1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C0633C-44F5-5059-55F1-7819ACC6C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5502F-91E3-4515-8258-9737D3217A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2024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134BC43-B126-6FBE-5C15-369A12D949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7CA7756-E3B8-ED3E-9BC9-CC4913516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370680-90AD-D198-0973-DD83F8168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35E4A-633B-46C0-A717-B8AD5923884B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14BCC0-CC8A-2491-7B9E-60CB0A9D1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EA7311-A5E1-AFE7-1D33-66F1660F1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5502F-91E3-4515-8258-9737D3217A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52017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419851-6DFC-2EE1-0B43-D22321C1D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4A27A31-14CB-2CEE-0E82-346B1B1CAB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E38CA0-6C7E-6EB6-2D6F-F8C4ACE29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35E4A-633B-46C0-A717-B8AD5923884B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70B7D9-122B-110E-BD9F-261698510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E75954-700E-287B-8CDD-834E90332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5502F-91E3-4515-8258-9737D3217A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0001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74B6FCC-5786-6AFA-DD97-F4C27C294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D80E4A-B3CC-1A0C-6C1D-AA6F89BDD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5ECFD6-0DEB-AAB2-5DEA-A8D57D6CA7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B35E4A-633B-46C0-A717-B8AD5923884B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CCBE63-DB9C-E396-2F05-194CAE1E4B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68C68E-E103-C2B3-592F-56EDEBCBE7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C5502F-91E3-4515-8258-9737D3217A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4010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5DA7A0-B0E0-9CA6-FCA2-3D71555EE3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000" y="1524000"/>
            <a:ext cx="11176000" cy="1524000"/>
          </a:xfrm>
        </p:spPr>
        <p:txBody>
          <a:bodyPr>
            <a:normAutofit/>
          </a:bodyPr>
          <a:lstStyle/>
          <a:p>
            <a:pPr algn="l"/>
            <a:r>
              <a:rPr lang="es-ES" sz="5200" b="1" dirty="0">
                <a:solidFill>
                  <a:srgbClr val="FFFFFF"/>
                </a:solidFill>
                <a:latin typeface="Aptos Display" panose="020B0004020202020204" pitchFamily="34" charset="0"/>
              </a:rPr>
              <a:t>Mean Chat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2D7AE9-83AB-20E8-5C23-10D2739E2D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3238500"/>
            <a:ext cx="11125200" cy="2286000"/>
          </a:xfrm>
        </p:spPr>
        <p:txBody>
          <a:bodyPr>
            <a:normAutofit/>
          </a:bodyPr>
          <a:lstStyle/>
          <a:p>
            <a:pPr algn="l"/>
            <a:r>
              <a:rPr lang="es-ES" sz="2200" dirty="0">
                <a:latin typeface="Aptos" panose="020B0004020202020204" pitchFamily="34" charset="0"/>
              </a:rPr>
              <a:t>Proyecto Final de Ciclo - Desarrollo Web</a:t>
            </a:r>
          </a:p>
          <a:p>
            <a:pPr algn="l"/>
            <a:r>
              <a:rPr lang="es-ES" sz="2200" dirty="0">
                <a:latin typeface="Aptos" panose="020B0004020202020204" pitchFamily="34" charset="0"/>
              </a:rPr>
              <a:t>Autor: Jonás Martínez Cuesta</a:t>
            </a:r>
          </a:p>
          <a:p>
            <a:pPr algn="l"/>
            <a:r>
              <a:rPr lang="es-ES" sz="2200" dirty="0">
                <a:latin typeface="Aptos" panose="020B0004020202020204" pitchFamily="34" charset="0"/>
              </a:rPr>
              <a:t>Fecha: Mayo 2026</a:t>
            </a:r>
          </a:p>
        </p:txBody>
      </p:sp>
      <p:sp>
        <p:nvSpPr>
          <p:cNvPr id="4" name="MC_THEME_COVER_ACCENT">
            <a:extLst>
              <a:ext uri="{FF2B5EF4-FFF2-40B4-BE49-F238E27FC236}">
                <a16:creationId xmlns:a16="http://schemas.microsoft.com/office/drawing/2014/main" id="{98BB0D90-FEC0-53F6-9D7E-678B29ADB922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F5A62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C_THEME_COVER_TOPBAND">
            <a:extLst>
              <a:ext uri="{FF2B5EF4-FFF2-40B4-BE49-F238E27FC236}">
                <a16:creationId xmlns:a16="http://schemas.microsoft.com/office/drawing/2014/main" id="{4128F52B-E4C0-271E-9896-D47AAAED614E}"/>
              </a:ext>
            </a:extLst>
          </p:cNvPr>
          <p:cNvSpPr/>
          <p:nvPr/>
        </p:nvSpPr>
        <p:spPr>
          <a:xfrm>
            <a:off x="0" y="0"/>
            <a:ext cx="12192000" cy="330200"/>
          </a:xfrm>
          <a:prstGeom prst="rect">
            <a:avLst/>
          </a:prstGeom>
          <a:solidFill>
            <a:srgbClr val="1222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MC_THEME_FOOTER">
            <a:extLst>
              <a:ext uri="{FF2B5EF4-FFF2-40B4-BE49-F238E27FC236}">
                <a16:creationId xmlns:a16="http://schemas.microsoft.com/office/drawing/2014/main" id="{0575E549-9182-86CD-94B0-35468915D0C3}"/>
              </a:ext>
            </a:extLst>
          </p:cNvPr>
          <p:cNvSpPr txBox="1"/>
          <p:nvPr/>
        </p:nvSpPr>
        <p:spPr>
          <a:xfrm>
            <a:off x="508000" y="65532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>
                <a:solidFill>
                  <a:srgbClr val="FDF4E6"/>
                </a:solidFill>
                <a:latin typeface="Aptos" panose="020B0004020202020204" pitchFamily="34" charset="0"/>
              </a:rPr>
              <a:t>Mean Chat | Proyecto Final de Grado</a:t>
            </a:r>
          </a:p>
        </p:txBody>
      </p:sp>
    </p:spTree>
    <p:extLst>
      <p:ext uri="{BB962C8B-B14F-4D97-AF65-F5344CB8AC3E}">
        <p14:creationId xmlns:p14="http://schemas.microsoft.com/office/powerpoint/2010/main" val="693622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>
      <p:transition spd="slow">
        <p:fade thruBlk="1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C_THEME_CARD">
            <a:extLst>
              <a:ext uri="{FF2B5EF4-FFF2-40B4-BE49-F238E27FC236}">
                <a16:creationId xmlns:a16="http://schemas.microsoft.com/office/drawing/2014/main" id="{6D32D131-65F8-DEDD-DBA1-6670B9DF0615}"/>
              </a:ext>
            </a:extLst>
          </p:cNvPr>
          <p:cNvSpPr/>
          <p:nvPr/>
        </p:nvSpPr>
        <p:spPr>
          <a:xfrm>
            <a:off x="304800" y="1244600"/>
            <a:ext cx="115824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D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4C1028E-406C-68EF-BF3B-6C0F13BA2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58800"/>
            <a:ext cx="11226800" cy="685800"/>
          </a:xfrm>
        </p:spPr>
        <p:txBody>
          <a:bodyPr>
            <a:normAutofit/>
          </a:bodyPr>
          <a:lstStyle/>
          <a:p>
            <a:r>
              <a:rPr lang="es-ES" sz="3400" b="1">
                <a:solidFill>
                  <a:srgbClr val="1E293B"/>
                </a:solidFill>
                <a:latin typeface="Aptos Display" panose="020B0004020202020204" pitchFamily="34" charset="0"/>
              </a:rPr>
              <a:t>El problema y la oportunidad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E718615-AA9A-37CE-829B-ACC602A70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676400"/>
            <a:ext cx="10871200" cy="4140200"/>
          </a:xfrm>
        </p:spPr>
        <p:txBody>
          <a:bodyPr>
            <a:norm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 dirty="0">
                <a:solidFill>
                  <a:srgbClr val="334155"/>
                </a:solidFill>
                <a:latin typeface="Aptos" panose="020B0004020202020204" pitchFamily="34" charset="0"/>
              </a:rPr>
              <a:t>Las apps de chat requieren inmediatez y </a:t>
            </a:r>
            <a:r>
              <a:rPr lang="es-ES" sz="2200" dirty="0" err="1">
                <a:solidFill>
                  <a:srgbClr val="334155"/>
                </a:solidFill>
                <a:latin typeface="Aptos" panose="020B0004020202020204" pitchFamily="34" charset="0"/>
              </a:rPr>
              <a:t>sincronizacion</a:t>
            </a:r>
            <a:r>
              <a:rPr lang="es-ES" sz="2200" dirty="0">
                <a:solidFill>
                  <a:srgbClr val="334155"/>
                </a:solidFill>
                <a:latin typeface="Aptos" panose="020B0004020202020204" pitchFamily="34" charset="0"/>
              </a:rPr>
              <a:t> entre usuarios.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 dirty="0">
                <a:solidFill>
                  <a:srgbClr val="334155"/>
                </a:solidFill>
                <a:latin typeface="Aptos" panose="020B0004020202020204" pitchFamily="34" charset="0"/>
              </a:rPr>
              <a:t>El enfoque de </a:t>
            </a:r>
            <a:r>
              <a:rPr lang="es-ES" sz="2200" dirty="0" err="1">
                <a:solidFill>
                  <a:srgbClr val="334155"/>
                </a:solidFill>
                <a:latin typeface="Aptos" panose="020B0004020202020204" pitchFamily="34" charset="0"/>
              </a:rPr>
              <a:t>polling</a:t>
            </a:r>
            <a:r>
              <a:rPr lang="es-ES" sz="2200" dirty="0">
                <a:solidFill>
                  <a:srgbClr val="334155"/>
                </a:solidFill>
                <a:latin typeface="Aptos" panose="020B0004020202020204" pitchFamily="34" charset="0"/>
              </a:rPr>
              <a:t> no escala bien y empeora la experiencia.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 dirty="0">
                <a:solidFill>
                  <a:srgbClr val="334155"/>
                </a:solidFill>
                <a:latin typeface="Aptos" panose="020B0004020202020204" pitchFamily="34" charset="0"/>
              </a:rPr>
              <a:t>Mean Chat nace para implementar </a:t>
            </a:r>
            <a:r>
              <a:rPr lang="es-ES" sz="2200" dirty="0" err="1">
                <a:solidFill>
                  <a:srgbClr val="334155"/>
                </a:solidFill>
                <a:latin typeface="Aptos" panose="020B0004020202020204" pitchFamily="34" charset="0"/>
              </a:rPr>
              <a:t>comunicacion</a:t>
            </a:r>
            <a:r>
              <a:rPr lang="es-ES" sz="2200" dirty="0">
                <a:solidFill>
                  <a:srgbClr val="334155"/>
                </a:solidFill>
                <a:latin typeface="Aptos" panose="020B0004020202020204" pitchFamily="34" charset="0"/>
              </a:rPr>
              <a:t> bidireccional real.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 dirty="0">
                <a:solidFill>
                  <a:srgbClr val="334155"/>
                </a:solidFill>
                <a:latin typeface="Aptos" panose="020B0004020202020204" pitchFamily="34" charset="0"/>
              </a:rPr>
              <a:t>Objetivo </a:t>
            </a:r>
            <a:r>
              <a:rPr lang="es-ES" sz="2200" dirty="0" err="1">
                <a:solidFill>
                  <a:srgbClr val="334155"/>
                </a:solidFill>
                <a:latin typeface="Aptos" panose="020B0004020202020204" pitchFamily="34" charset="0"/>
              </a:rPr>
              <a:t>academico</a:t>
            </a:r>
            <a:r>
              <a:rPr lang="es-ES" sz="2200" dirty="0">
                <a:solidFill>
                  <a:srgbClr val="334155"/>
                </a:solidFill>
                <a:latin typeface="Aptos" panose="020B0004020202020204" pitchFamily="34" charset="0"/>
              </a:rPr>
              <a:t>: dominar full </a:t>
            </a:r>
            <a:r>
              <a:rPr lang="es-ES" sz="2200" dirty="0" err="1">
                <a:solidFill>
                  <a:srgbClr val="334155"/>
                </a:solidFill>
                <a:latin typeface="Aptos" panose="020B0004020202020204" pitchFamily="34" charset="0"/>
              </a:rPr>
              <a:t>stack</a:t>
            </a:r>
            <a:r>
              <a:rPr lang="es-ES" sz="2200" dirty="0">
                <a:solidFill>
                  <a:srgbClr val="334155"/>
                </a:solidFill>
                <a:latin typeface="Aptos" panose="020B0004020202020204" pitchFamily="34" charset="0"/>
              </a:rPr>
              <a:t> en un caso real de tiempo real.</a:t>
            </a:r>
          </a:p>
        </p:txBody>
      </p:sp>
      <p:sp>
        <p:nvSpPr>
          <p:cNvPr id="4" name="MC_THEME_TOPBAND">
            <a:extLst>
              <a:ext uri="{FF2B5EF4-FFF2-40B4-BE49-F238E27FC236}">
                <a16:creationId xmlns:a16="http://schemas.microsoft.com/office/drawing/2014/main" id="{751C424E-72B7-5ADD-B348-EF9023FEE7E5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C_THEME_TOPLINE">
            <a:extLst>
              <a:ext uri="{FF2B5EF4-FFF2-40B4-BE49-F238E27FC236}">
                <a16:creationId xmlns:a16="http://schemas.microsoft.com/office/drawing/2014/main" id="{30417A9B-A851-FE10-0037-EBC7CF786C5E}"/>
              </a:ext>
            </a:extLst>
          </p:cNvPr>
          <p:cNvSpPr/>
          <p:nvPr/>
        </p:nvSpPr>
        <p:spPr>
          <a:xfrm>
            <a:off x="0" y="431800"/>
            <a:ext cx="12192000" cy="38100"/>
          </a:xfrm>
          <a:prstGeom prst="rect">
            <a:avLst/>
          </a:prstGeom>
          <a:solidFill>
            <a:srgbClr val="2563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MC_THEME_FOOTER_L">
            <a:extLst>
              <a:ext uri="{FF2B5EF4-FFF2-40B4-BE49-F238E27FC236}">
                <a16:creationId xmlns:a16="http://schemas.microsoft.com/office/drawing/2014/main" id="{EB458528-39AE-B697-7E26-5E2D1E09E758}"/>
              </a:ext>
            </a:extLst>
          </p:cNvPr>
          <p:cNvSpPr txBox="1"/>
          <p:nvPr/>
        </p:nvSpPr>
        <p:spPr>
          <a:xfrm>
            <a:off x="330200" y="6540500"/>
            <a:ext cx="457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 dirty="0">
                <a:solidFill>
                  <a:srgbClr val="64748B"/>
                </a:solidFill>
                <a:latin typeface="Aptos" panose="020B0004020202020204" pitchFamily="34" charset="0"/>
              </a:rPr>
              <a:t>Mean Chat | TFC Desarrollo Web</a:t>
            </a:r>
          </a:p>
        </p:txBody>
      </p:sp>
      <p:sp>
        <p:nvSpPr>
          <p:cNvPr id="8" name="MC_THEME_FOOTER_R">
            <a:extLst>
              <a:ext uri="{FF2B5EF4-FFF2-40B4-BE49-F238E27FC236}">
                <a16:creationId xmlns:a16="http://schemas.microsoft.com/office/drawing/2014/main" id="{C5F45433-A339-A824-6BA0-8ED50A7CEF6D}"/>
              </a:ext>
            </a:extLst>
          </p:cNvPr>
          <p:cNvSpPr txBox="1"/>
          <p:nvPr/>
        </p:nvSpPr>
        <p:spPr>
          <a:xfrm>
            <a:off x="11176000" y="6540500"/>
            <a:ext cx="7112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s-ES" sz="1000">
                <a:solidFill>
                  <a:srgbClr val="64748B"/>
                </a:solidFill>
                <a:latin typeface="Aptos" panose="020B0004020202020204" pitchFamily="34" charset="0"/>
              </a:rPr>
              <a:t>2/20</a:t>
            </a:r>
          </a:p>
        </p:txBody>
      </p:sp>
    </p:spTree>
    <p:extLst>
      <p:ext uri="{BB962C8B-B14F-4D97-AF65-F5344CB8AC3E}">
        <p14:creationId xmlns:p14="http://schemas.microsoft.com/office/powerpoint/2010/main" val="2456648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>
      <p:transition spd="slow">
        <p:fade thruBlk="1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C_THEME_CARD">
            <a:extLst>
              <a:ext uri="{FF2B5EF4-FFF2-40B4-BE49-F238E27FC236}">
                <a16:creationId xmlns:a16="http://schemas.microsoft.com/office/drawing/2014/main" id="{5CF1FFCC-0656-67B7-6FD5-CAF76BA9A51D}"/>
              </a:ext>
            </a:extLst>
          </p:cNvPr>
          <p:cNvSpPr/>
          <p:nvPr/>
        </p:nvSpPr>
        <p:spPr>
          <a:xfrm>
            <a:off x="304800" y="1244600"/>
            <a:ext cx="115824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D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C11A75C-DB0A-6CAF-AEC6-C172357A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58800"/>
            <a:ext cx="11226800" cy="685800"/>
          </a:xfrm>
        </p:spPr>
        <p:txBody>
          <a:bodyPr>
            <a:normAutofit/>
          </a:bodyPr>
          <a:lstStyle/>
          <a:p>
            <a:r>
              <a:rPr lang="es-ES" sz="3400" b="1">
                <a:solidFill>
                  <a:srgbClr val="1E293B"/>
                </a:solidFill>
                <a:latin typeface="Aptos Display" panose="020B0004020202020204" pitchFamily="34" charset="0"/>
              </a:rPr>
              <a:t>Objetivos del proyecto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E414D0-8343-A938-86AF-E6BDE51E6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676400"/>
            <a:ext cx="10871200" cy="4140200"/>
          </a:xfrm>
        </p:spPr>
        <p:txBody>
          <a:bodyPr>
            <a:norm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Registro y login con autenticacion segura.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Chats privados y grupales.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Mensajeria en tiempo real y sincronizacion de lista de chats.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Historial paginado por conversacion.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Despliegue reproducible con Docker Compose.</a:t>
            </a:r>
          </a:p>
        </p:txBody>
      </p:sp>
      <p:sp>
        <p:nvSpPr>
          <p:cNvPr id="4" name="MC_THEME_TOPBAND">
            <a:extLst>
              <a:ext uri="{FF2B5EF4-FFF2-40B4-BE49-F238E27FC236}">
                <a16:creationId xmlns:a16="http://schemas.microsoft.com/office/drawing/2014/main" id="{176D2853-C29D-66C4-9D88-89A551588B92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C_THEME_TOPLINE">
            <a:extLst>
              <a:ext uri="{FF2B5EF4-FFF2-40B4-BE49-F238E27FC236}">
                <a16:creationId xmlns:a16="http://schemas.microsoft.com/office/drawing/2014/main" id="{D14C54AE-6FD9-AD8A-9A8C-C01990FD3F5D}"/>
              </a:ext>
            </a:extLst>
          </p:cNvPr>
          <p:cNvSpPr/>
          <p:nvPr/>
        </p:nvSpPr>
        <p:spPr>
          <a:xfrm>
            <a:off x="0" y="431800"/>
            <a:ext cx="12192000" cy="38100"/>
          </a:xfrm>
          <a:prstGeom prst="rect">
            <a:avLst/>
          </a:prstGeom>
          <a:solidFill>
            <a:srgbClr val="2563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MC_THEME_FOOTER_L">
            <a:extLst>
              <a:ext uri="{FF2B5EF4-FFF2-40B4-BE49-F238E27FC236}">
                <a16:creationId xmlns:a16="http://schemas.microsoft.com/office/drawing/2014/main" id="{CE7021AB-BB43-418B-C55D-D5E93643103D}"/>
              </a:ext>
            </a:extLst>
          </p:cNvPr>
          <p:cNvSpPr txBox="1"/>
          <p:nvPr/>
        </p:nvSpPr>
        <p:spPr>
          <a:xfrm>
            <a:off x="330200" y="6540500"/>
            <a:ext cx="457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 dirty="0">
                <a:solidFill>
                  <a:srgbClr val="64748B"/>
                </a:solidFill>
                <a:latin typeface="Aptos" panose="020B0004020202020204" pitchFamily="34" charset="0"/>
              </a:rPr>
              <a:t>Mean Chat | TFC Desarrollo Web</a:t>
            </a:r>
          </a:p>
        </p:txBody>
      </p:sp>
      <p:sp>
        <p:nvSpPr>
          <p:cNvPr id="8" name="MC_THEME_FOOTER_R">
            <a:extLst>
              <a:ext uri="{FF2B5EF4-FFF2-40B4-BE49-F238E27FC236}">
                <a16:creationId xmlns:a16="http://schemas.microsoft.com/office/drawing/2014/main" id="{EAFBD13C-D4AD-3F4A-C44E-5BB5E7DD2E05}"/>
              </a:ext>
            </a:extLst>
          </p:cNvPr>
          <p:cNvSpPr txBox="1"/>
          <p:nvPr/>
        </p:nvSpPr>
        <p:spPr>
          <a:xfrm>
            <a:off x="11176000" y="6540500"/>
            <a:ext cx="7112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s-ES" sz="1000">
                <a:solidFill>
                  <a:srgbClr val="64748B"/>
                </a:solidFill>
                <a:latin typeface="Aptos" panose="020B0004020202020204" pitchFamily="34" charset="0"/>
              </a:rPr>
              <a:t>3/20</a:t>
            </a:r>
          </a:p>
        </p:txBody>
      </p:sp>
    </p:spTree>
    <p:extLst>
      <p:ext uri="{BB962C8B-B14F-4D97-AF65-F5344CB8AC3E}">
        <p14:creationId xmlns:p14="http://schemas.microsoft.com/office/powerpoint/2010/main" val="1432827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>
      <p:transition spd="slow">
        <p:fade thruBlk="1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C_THEME_CARD">
            <a:extLst>
              <a:ext uri="{FF2B5EF4-FFF2-40B4-BE49-F238E27FC236}">
                <a16:creationId xmlns:a16="http://schemas.microsoft.com/office/drawing/2014/main" id="{3E294930-8CC6-1BB8-CBDB-F57B5AE2837F}"/>
              </a:ext>
            </a:extLst>
          </p:cNvPr>
          <p:cNvSpPr/>
          <p:nvPr/>
        </p:nvSpPr>
        <p:spPr>
          <a:xfrm>
            <a:off x="304800" y="1244600"/>
            <a:ext cx="115824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D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56A9F6C-2FA1-D894-905D-C193F3D03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58800"/>
            <a:ext cx="11226800" cy="685800"/>
          </a:xfrm>
        </p:spPr>
        <p:txBody>
          <a:bodyPr>
            <a:normAutofit/>
          </a:bodyPr>
          <a:lstStyle/>
          <a:p>
            <a:r>
              <a:rPr lang="es-ES" sz="3400" b="1">
                <a:solidFill>
                  <a:srgbClr val="1E293B"/>
                </a:solidFill>
                <a:latin typeface="Aptos Display" panose="020B0004020202020204" pitchFamily="34" charset="0"/>
              </a:rPr>
              <a:t>Alcance y limites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C92ECC-D878-E89A-8BA6-D25DDCBE4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676400"/>
            <a:ext cx="10871200" cy="4140200"/>
          </a:xfrm>
        </p:spPr>
        <p:txBody>
          <a:bodyPr>
            <a:norm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Incluye autenticacion, chat 1:1 y grupal, historial y tiempo real.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No incluye videollamadas, push nativo ni cifrado E2E.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Orientado a aplicacion web, con base preparada para evolucionar.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Despliegue principal pensado para entorno local con contenedores.</a:t>
            </a:r>
          </a:p>
        </p:txBody>
      </p:sp>
      <p:sp>
        <p:nvSpPr>
          <p:cNvPr id="4" name="MC_THEME_TOPBAND">
            <a:extLst>
              <a:ext uri="{FF2B5EF4-FFF2-40B4-BE49-F238E27FC236}">
                <a16:creationId xmlns:a16="http://schemas.microsoft.com/office/drawing/2014/main" id="{BFB2354E-0E82-AFA2-ADD5-CD7D03B6BCEE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C_THEME_TOPLINE">
            <a:extLst>
              <a:ext uri="{FF2B5EF4-FFF2-40B4-BE49-F238E27FC236}">
                <a16:creationId xmlns:a16="http://schemas.microsoft.com/office/drawing/2014/main" id="{01CB54B8-1EE1-D41D-EAF2-0F07CFFD0EB8}"/>
              </a:ext>
            </a:extLst>
          </p:cNvPr>
          <p:cNvSpPr/>
          <p:nvPr/>
        </p:nvSpPr>
        <p:spPr>
          <a:xfrm>
            <a:off x="0" y="431800"/>
            <a:ext cx="12192000" cy="38100"/>
          </a:xfrm>
          <a:prstGeom prst="rect">
            <a:avLst/>
          </a:prstGeom>
          <a:solidFill>
            <a:srgbClr val="2563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MC_THEME_FOOTER_L">
            <a:extLst>
              <a:ext uri="{FF2B5EF4-FFF2-40B4-BE49-F238E27FC236}">
                <a16:creationId xmlns:a16="http://schemas.microsoft.com/office/drawing/2014/main" id="{0E05E0B0-55C5-F3A9-BA70-971930FE0BFF}"/>
              </a:ext>
            </a:extLst>
          </p:cNvPr>
          <p:cNvSpPr txBox="1"/>
          <p:nvPr/>
        </p:nvSpPr>
        <p:spPr>
          <a:xfrm>
            <a:off x="330200" y="6540500"/>
            <a:ext cx="457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 dirty="0">
                <a:solidFill>
                  <a:srgbClr val="64748B"/>
                </a:solidFill>
                <a:latin typeface="Aptos" panose="020B0004020202020204" pitchFamily="34" charset="0"/>
              </a:rPr>
              <a:t>Mean Chat | TFC Desarrollo Web</a:t>
            </a:r>
          </a:p>
        </p:txBody>
      </p:sp>
      <p:sp>
        <p:nvSpPr>
          <p:cNvPr id="8" name="MC_THEME_FOOTER_R">
            <a:extLst>
              <a:ext uri="{FF2B5EF4-FFF2-40B4-BE49-F238E27FC236}">
                <a16:creationId xmlns:a16="http://schemas.microsoft.com/office/drawing/2014/main" id="{751EC7FD-E8A3-BCD8-61DB-2CDB3401B41E}"/>
              </a:ext>
            </a:extLst>
          </p:cNvPr>
          <p:cNvSpPr txBox="1"/>
          <p:nvPr/>
        </p:nvSpPr>
        <p:spPr>
          <a:xfrm>
            <a:off x="11176000" y="6540500"/>
            <a:ext cx="7112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s-ES" sz="1000">
                <a:solidFill>
                  <a:srgbClr val="64748B"/>
                </a:solidFill>
                <a:latin typeface="Aptos" panose="020B0004020202020204" pitchFamily="34" charset="0"/>
              </a:rPr>
              <a:t>4/20</a:t>
            </a:r>
          </a:p>
        </p:txBody>
      </p:sp>
    </p:spTree>
    <p:extLst>
      <p:ext uri="{BB962C8B-B14F-4D97-AF65-F5344CB8AC3E}">
        <p14:creationId xmlns:p14="http://schemas.microsoft.com/office/powerpoint/2010/main" val="1671438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>
      <p:transition spd="slow">
        <p:fade thruBlk="1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C_THEME_CARD">
            <a:extLst>
              <a:ext uri="{FF2B5EF4-FFF2-40B4-BE49-F238E27FC236}">
                <a16:creationId xmlns:a16="http://schemas.microsoft.com/office/drawing/2014/main" id="{52E27285-CF7F-AE4D-D23C-8AC68C9556B7}"/>
              </a:ext>
            </a:extLst>
          </p:cNvPr>
          <p:cNvSpPr/>
          <p:nvPr/>
        </p:nvSpPr>
        <p:spPr>
          <a:xfrm>
            <a:off x="304800" y="1244600"/>
            <a:ext cx="115824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D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946F154-877C-F301-FF93-EDAA4BD33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58800"/>
            <a:ext cx="11226800" cy="685800"/>
          </a:xfrm>
        </p:spPr>
        <p:txBody>
          <a:bodyPr>
            <a:normAutofit/>
          </a:bodyPr>
          <a:lstStyle/>
          <a:p>
            <a:r>
              <a:rPr lang="es-ES" sz="3400" b="1">
                <a:solidFill>
                  <a:srgbClr val="1E293B"/>
                </a:solidFill>
                <a:latin typeface="Aptos Display" panose="020B0004020202020204" pitchFamily="34" charset="0"/>
              </a:rPr>
              <a:t>Vision general de la solucion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07B407-3C33-5733-6569-96610E11D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676400"/>
            <a:ext cx="10871200" cy="4140200"/>
          </a:xfrm>
        </p:spPr>
        <p:txBody>
          <a:bodyPr>
            <a:norm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pt-BR" sz="2200">
                <a:solidFill>
                  <a:srgbClr val="334155"/>
                </a:solidFill>
                <a:latin typeface="Aptos" panose="020B0004020202020204" pitchFamily="34" charset="0"/>
              </a:rPr>
              <a:t>Frontend Angular + Ionic para interfaz reactiva.</a:t>
            </a:r>
            <a:endParaRPr lang="es-ES" sz="2200">
              <a:solidFill>
                <a:srgbClr val="334155"/>
              </a:solidFill>
              <a:latin typeface="Aptos" panose="020B0004020202020204" pitchFamily="34" charset="0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Backend Node.js + Express para API y logica.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Socket.IO para eventos en tiempo real.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MongoDB + Mongoose para persistencia.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Todo orquestado con Docker Compose.</a:t>
            </a:r>
          </a:p>
        </p:txBody>
      </p:sp>
      <p:sp>
        <p:nvSpPr>
          <p:cNvPr id="4" name="MC_THEME_TOPBAND">
            <a:extLst>
              <a:ext uri="{FF2B5EF4-FFF2-40B4-BE49-F238E27FC236}">
                <a16:creationId xmlns:a16="http://schemas.microsoft.com/office/drawing/2014/main" id="{22B955A8-58D0-5C77-051C-91FF0DA3E950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C_THEME_TOPLINE">
            <a:extLst>
              <a:ext uri="{FF2B5EF4-FFF2-40B4-BE49-F238E27FC236}">
                <a16:creationId xmlns:a16="http://schemas.microsoft.com/office/drawing/2014/main" id="{5248F1C9-5210-E65B-2DDD-C3F41CA3112D}"/>
              </a:ext>
            </a:extLst>
          </p:cNvPr>
          <p:cNvSpPr/>
          <p:nvPr/>
        </p:nvSpPr>
        <p:spPr>
          <a:xfrm>
            <a:off x="0" y="431800"/>
            <a:ext cx="12192000" cy="38100"/>
          </a:xfrm>
          <a:prstGeom prst="rect">
            <a:avLst/>
          </a:prstGeom>
          <a:solidFill>
            <a:srgbClr val="2563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MC_THEME_FOOTER_L">
            <a:extLst>
              <a:ext uri="{FF2B5EF4-FFF2-40B4-BE49-F238E27FC236}">
                <a16:creationId xmlns:a16="http://schemas.microsoft.com/office/drawing/2014/main" id="{C81E0A27-8B14-D44A-12E3-DE24390553D1}"/>
              </a:ext>
            </a:extLst>
          </p:cNvPr>
          <p:cNvSpPr txBox="1"/>
          <p:nvPr/>
        </p:nvSpPr>
        <p:spPr>
          <a:xfrm>
            <a:off x="330200" y="6540500"/>
            <a:ext cx="457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 dirty="0">
                <a:solidFill>
                  <a:srgbClr val="64748B"/>
                </a:solidFill>
                <a:latin typeface="Aptos" panose="020B0004020202020204" pitchFamily="34" charset="0"/>
              </a:rPr>
              <a:t>Mean Chat | TFC Desarrollo Web</a:t>
            </a:r>
          </a:p>
        </p:txBody>
      </p:sp>
      <p:sp>
        <p:nvSpPr>
          <p:cNvPr id="8" name="MC_THEME_FOOTER_R">
            <a:extLst>
              <a:ext uri="{FF2B5EF4-FFF2-40B4-BE49-F238E27FC236}">
                <a16:creationId xmlns:a16="http://schemas.microsoft.com/office/drawing/2014/main" id="{956CA8EB-7DBB-7159-1604-C504221AF087}"/>
              </a:ext>
            </a:extLst>
          </p:cNvPr>
          <p:cNvSpPr txBox="1"/>
          <p:nvPr/>
        </p:nvSpPr>
        <p:spPr>
          <a:xfrm>
            <a:off x="11176000" y="6540500"/>
            <a:ext cx="7112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s-ES" sz="1000">
                <a:solidFill>
                  <a:srgbClr val="64748B"/>
                </a:solidFill>
                <a:latin typeface="Aptos" panose="020B0004020202020204" pitchFamily="34" charset="0"/>
              </a:rPr>
              <a:t>5/20</a:t>
            </a:r>
          </a:p>
        </p:txBody>
      </p:sp>
    </p:spTree>
    <p:extLst>
      <p:ext uri="{BB962C8B-B14F-4D97-AF65-F5344CB8AC3E}">
        <p14:creationId xmlns:p14="http://schemas.microsoft.com/office/powerpoint/2010/main" val="3251902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>
      <p:transition spd="slow">
        <p:fade thruBlk="1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C_THEME_CARD">
            <a:extLst>
              <a:ext uri="{FF2B5EF4-FFF2-40B4-BE49-F238E27FC236}">
                <a16:creationId xmlns:a16="http://schemas.microsoft.com/office/drawing/2014/main" id="{920EF7FD-FD16-F876-CF27-5C04CAB4F0AA}"/>
              </a:ext>
            </a:extLst>
          </p:cNvPr>
          <p:cNvSpPr/>
          <p:nvPr/>
        </p:nvSpPr>
        <p:spPr>
          <a:xfrm>
            <a:off x="304800" y="1244600"/>
            <a:ext cx="115824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D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2318CF-F621-8925-D6D0-2F7C3A0C7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58800"/>
            <a:ext cx="11226800" cy="685800"/>
          </a:xfrm>
        </p:spPr>
        <p:txBody>
          <a:bodyPr>
            <a:normAutofit/>
          </a:bodyPr>
          <a:lstStyle/>
          <a:p>
            <a:r>
              <a:rPr lang="es-ES" sz="3400" b="1">
                <a:solidFill>
                  <a:srgbClr val="1E293B"/>
                </a:solidFill>
                <a:latin typeface="Aptos Display" panose="020B0004020202020204" pitchFamily="34" charset="0"/>
              </a:rPr>
              <a:t>Arquitectura general del sistema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BC2B1E8-8DCE-9CE6-0B8E-982FAE277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676400"/>
            <a:ext cx="10871200" cy="4140200"/>
          </a:xfrm>
        </p:spPr>
        <p:txBody>
          <a:bodyPr>
            <a:norm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Canal REST para operaciones CRUD y autenticacion.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Canal Socket para eventos en vivo.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Backend centraliza seguridad, logica y acceso a BBDD.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MongoDB desacoplada del cliente; solo accesible desde backend.</a:t>
            </a:r>
          </a:p>
        </p:txBody>
      </p:sp>
      <p:sp>
        <p:nvSpPr>
          <p:cNvPr id="4" name="MC_THEME_TOPBAND">
            <a:extLst>
              <a:ext uri="{FF2B5EF4-FFF2-40B4-BE49-F238E27FC236}">
                <a16:creationId xmlns:a16="http://schemas.microsoft.com/office/drawing/2014/main" id="{DBD27E53-0E3A-9C62-9E52-6378C6D4A10D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C_THEME_TOPLINE">
            <a:extLst>
              <a:ext uri="{FF2B5EF4-FFF2-40B4-BE49-F238E27FC236}">
                <a16:creationId xmlns:a16="http://schemas.microsoft.com/office/drawing/2014/main" id="{35897B7C-8FF1-AD97-2459-EE6E129DF63C}"/>
              </a:ext>
            </a:extLst>
          </p:cNvPr>
          <p:cNvSpPr/>
          <p:nvPr/>
        </p:nvSpPr>
        <p:spPr>
          <a:xfrm>
            <a:off x="0" y="431800"/>
            <a:ext cx="12192000" cy="38100"/>
          </a:xfrm>
          <a:prstGeom prst="rect">
            <a:avLst/>
          </a:prstGeom>
          <a:solidFill>
            <a:srgbClr val="2563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MC_THEME_FOOTER_L">
            <a:extLst>
              <a:ext uri="{FF2B5EF4-FFF2-40B4-BE49-F238E27FC236}">
                <a16:creationId xmlns:a16="http://schemas.microsoft.com/office/drawing/2014/main" id="{44201272-8255-A46C-BABC-C631CB2B29FA}"/>
              </a:ext>
            </a:extLst>
          </p:cNvPr>
          <p:cNvSpPr txBox="1"/>
          <p:nvPr/>
        </p:nvSpPr>
        <p:spPr>
          <a:xfrm>
            <a:off x="330200" y="6540500"/>
            <a:ext cx="457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 dirty="0">
                <a:solidFill>
                  <a:srgbClr val="64748B"/>
                </a:solidFill>
                <a:latin typeface="Aptos" panose="020B0004020202020204" pitchFamily="34" charset="0"/>
              </a:rPr>
              <a:t>Mean Chat | TFC Desarrollo Web</a:t>
            </a:r>
          </a:p>
        </p:txBody>
      </p:sp>
      <p:sp>
        <p:nvSpPr>
          <p:cNvPr id="8" name="MC_THEME_FOOTER_R">
            <a:extLst>
              <a:ext uri="{FF2B5EF4-FFF2-40B4-BE49-F238E27FC236}">
                <a16:creationId xmlns:a16="http://schemas.microsoft.com/office/drawing/2014/main" id="{94BB2D31-E366-2EAA-5461-271924969F69}"/>
              </a:ext>
            </a:extLst>
          </p:cNvPr>
          <p:cNvSpPr txBox="1"/>
          <p:nvPr/>
        </p:nvSpPr>
        <p:spPr>
          <a:xfrm>
            <a:off x="11176000" y="6540500"/>
            <a:ext cx="7112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s-ES" sz="1000">
                <a:solidFill>
                  <a:srgbClr val="64748B"/>
                </a:solidFill>
                <a:latin typeface="Aptos" panose="020B0004020202020204" pitchFamily="34" charset="0"/>
              </a:rPr>
              <a:t>6/20</a:t>
            </a:r>
          </a:p>
        </p:txBody>
      </p:sp>
    </p:spTree>
    <p:extLst>
      <p:ext uri="{BB962C8B-B14F-4D97-AF65-F5344CB8AC3E}">
        <p14:creationId xmlns:p14="http://schemas.microsoft.com/office/powerpoint/2010/main" val="886212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>
      <p:transition spd="slow">
        <p:fade thruBlk="1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C_THEME_CARD">
            <a:extLst>
              <a:ext uri="{FF2B5EF4-FFF2-40B4-BE49-F238E27FC236}">
                <a16:creationId xmlns:a16="http://schemas.microsoft.com/office/drawing/2014/main" id="{4714C6C1-461F-8408-25AD-6D9349EAA0AF}"/>
              </a:ext>
            </a:extLst>
          </p:cNvPr>
          <p:cNvSpPr/>
          <p:nvPr/>
        </p:nvSpPr>
        <p:spPr>
          <a:xfrm>
            <a:off x="304800" y="1244600"/>
            <a:ext cx="115824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D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759C3E5-BA94-BE07-0DB6-60F75BBCB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58800"/>
            <a:ext cx="11226800" cy="685800"/>
          </a:xfrm>
        </p:spPr>
        <p:txBody>
          <a:bodyPr>
            <a:normAutofit/>
          </a:bodyPr>
          <a:lstStyle/>
          <a:p>
            <a:r>
              <a:rPr lang="es-ES" sz="3400" b="1">
                <a:solidFill>
                  <a:srgbClr val="1E293B"/>
                </a:solidFill>
                <a:latin typeface="Aptos Display" panose="020B0004020202020204" pitchFamily="34" charset="0"/>
              </a:rPr>
              <a:t>Frontend: Angular 21 + Ionic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F303D04-F53D-E50D-7D98-6FB869599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676400"/>
            <a:ext cx="10871200" cy="4140200"/>
          </a:xfrm>
        </p:spPr>
        <p:txBody>
          <a:bodyPr>
            <a:norm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Arquitectura por componentes y servicios.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Reactive Forms y guards para flujo de autenticacion.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Servicios dedicados para API y socket.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UI adaptable a escritorio y movil con Ionic.</a:t>
            </a:r>
          </a:p>
        </p:txBody>
      </p:sp>
      <p:sp>
        <p:nvSpPr>
          <p:cNvPr id="4" name="MC_THEME_TOPBAND">
            <a:extLst>
              <a:ext uri="{FF2B5EF4-FFF2-40B4-BE49-F238E27FC236}">
                <a16:creationId xmlns:a16="http://schemas.microsoft.com/office/drawing/2014/main" id="{B00C4254-B6A4-189A-0DAF-EADA0F8249B3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C_THEME_TOPLINE">
            <a:extLst>
              <a:ext uri="{FF2B5EF4-FFF2-40B4-BE49-F238E27FC236}">
                <a16:creationId xmlns:a16="http://schemas.microsoft.com/office/drawing/2014/main" id="{7FA0FD58-5B11-1BB0-AC91-E65C5AE8CC38}"/>
              </a:ext>
            </a:extLst>
          </p:cNvPr>
          <p:cNvSpPr/>
          <p:nvPr/>
        </p:nvSpPr>
        <p:spPr>
          <a:xfrm>
            <a:off x="0" y="431800"/>
            <a:ext cx="12192000" cy="38100"/>
          </a:xfrm>
          <a:prstGeom prst="rect">
            <a:avLst/>
          </a:prstGeom>
          <a:solidFill>
            <a:srgbClr val="2563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MC_THEME_FOOTER_L">
            <a:extLst>
              <a:ext uri="{FF2B5EF4-FFF2-40B4-BE49-F238E27FC236}">
                <a16:creationId xmlns:a16="http://schemas.microsoft.com/office/drawing/2014/main" id="{4F57DB04-3BFC-0061-7BC3-2A24181B1137}"/>
              </a:ext>
            </a:extLst>
          </p:cNvPr>
          <p:cNvSpPr txBox="1"/>
          <p:nvPr/>
        </p:nvSpPr>
        <p:spPr>
          <a:xfrm>
            <a:off x="330200" y="6540500"/>
            <a:ext cx="457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 dirty="0">
                <a:solidFill>
                  <a:srgbClr val="64748B"/>
                </a:solidFill>
                <a:latin typeface="Aptos" panose="020B0004020202020204" pitchFamily="34" charset="0"/>
              </a:rPr>
              <a:t>Mean Chat | TFC Desarrollo Web</a:t>
            </a:r>
          </a:p>
        </p:txBody>
      </p:sp>
      <p:sp>
        <p:nvSpPr>
          <p:cNvPr id="8" name="MC_THEME_FOOTER_R">
            <a:extLst>
              <a:ext uri="{FF2B5EF4-FFF2-40B4-BE49-F238E27FC236}">
                <a16:creationId xmlns:a16="http://schemas.microsoft.com/office/drawing/2014/main" id="{90F0D191-103F-A4CB-D45C-F1BF5D84E3C5}"/>
              </a:ext>
            </a:extLst>
          </p:cNvPr>
          <p:cNvSpPr txBox="1"/>
          <p:nvPr/>
        </p:nvSpPr>
        <p:spPr>
          <a:xfrm>
            <a:off x="11176000" y="6540500"/>
            <a:ext cx="7112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s-ES" sz="1000">
                <a:solidFill>
                  <a:srgbClr val="64748B"/>
                </a:solidFill>
                <a:latin typeface="Aptos" panose="020B0004020202020204" pitchFamily="34" charset="0"/>
              </a:rPr>
              <a:t>7/20</a:t>
            </a:r>
          </a:p>
        </p:txBody>
      </p:sp>
    </p:spTree>
    <p:extLst>
      <p:ext uri="{BB962C8B-B14F-4D97-AF65-F5344CB8AC3E}">
        <p14:creationId xmlns:p14="http://schemas.microsoft.com/office/powerpoint/2010/main" val="3170327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>
      <p:transition spd="slow">
        <p:fade thruBlk="1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C_THEME_CARD">
            <a:extLst>
              <a:ext uri="{FF2B5EF4-FFF2-40B4-BE49-F238E27FC236}">
                <a16:creationId xmlns:a16="http://schemas.microsoft.com/office/drawing/2014/main" id="{8889AAAA-1FF9-A455-64D9-7B03CDDD4C25}"/>
              </a:ext>
            </a:extLst>
          </p:cNvPr>
          <p:cNvSpPr/>
          <p:nvPr/>
        </p:nvSpPr>
        <p:spPr>
          <a:xfrm>
            <a:off x="304800" y="1244600"/>
            <a:ext cx="115824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D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758B04-A39C-59A6-0FF1-793B207A1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58800"/>
            <a:ext cx="11226800" cy="685800"/>
          </a:xfrm>
        </p:spPr>
        <p:txBody>
          <a:bodyPr>
            <a:normAutofit/>
          </a:bodyPr>
          <a:lstStyle/>
          <a:p>
            <a:r>
              <a:rPr lang="en-US" sz="3400" b="1">
                <a:solidFill>
                  <a:srgbClr val="1E293B"/>
                </a:solidFill>
                <a:latin typeface="Aptos Display" panose="020B0004020202020204" pitchFamily="34" charset="0"/>
              </a:rPr>
              <a:t>Backend: Express + Socket.IO + Mongoose</a:t>
            </a:r>
            <a:endParaRPr lang="es-ES" sz="3400" b="1">
              <a:solidFill>
                <a:srgbClr val="1E293B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5DCC67-C8FE-3F6C-94EB-9C4A26661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676400"/>
            <a:ext cx="10871200" cy="4140200"/>
          </a:xfrm>
        </p:spPr>
        <p:txBody>
          <a:bodyPr>
            <a:norm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Express gestiona rutas y middlewares.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Socket.IO gestiona salas y eventos bidireccionales.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Mongoose define esquemas y validaciones.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El mismo backend sirve API REST y tiempo real.</a:t>
            </a:r>
          </a:p>
        </p:txBody>
      </p:sp>
      <p:sp>
        <p:nvSpPr>
          <p:cNvPr id="4" name="MC_THEME_TOPBAND">
            <a:extLst>
              <a:ext uri="{FF2B5EF4-FFF2-40B4-BE49-F238E27FC236}">
                <a16:creationId xmlns:a16="http://schemas.microsoft.com/office/drawing/2014/main" id="{0EDEB6DC-62A6-09AF-B3D5-13E73AFA665A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C_THEME_TOPLINE">
            <a:extLst>
              <a:ext uri="{FF2B5EF4-FFF2-40B4-BE49-F238E27FC236}">
                <a16:creationId xmlns:a16="http://schemas.microsoft.com/office/drawing/2014/main" id="{2B45A864-5FAF-FBE0-4311-0F1C637CCF63}"/>
              </a:ext>
            </a:extLst>
          </p:cNvPr>
          <p:cNvSpPr/>
          <p:nvPr/>
        </p:nvSpPr>
        <p:spPr>
          <a:xfrm>
            <a:off x="0" y="431800"/>
            <a:ext cx="12192000" cy="38100"/>
          </a:xfrm>
          <a:prstGeom prst="rect">
            <a:avLst/>
          </a:prstGeom>
          <a:solidFill>
            <a:srgbClr val="2563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MC_THEME_FOOTER_L">
            <a:extLst>
              <a:ext uri="{FF2B5EF4-FFF2-40B4-BE49-F238E27FC236}">
                <a16:creationId xmlns:a16="http://schemas.microsoft.com/office/drawing/2014/main" id="{C90A3A89-F39B-E15B-3070-3B811F640DA4}"/>
              </a:ext>
            </a:extLst>
          </p:cNvPr>
          <p:cNvSpPr txBox="1"/>
          <p:nvPr/>
        </p:nvSpPr>
        <p:spPr>
          <a:xfrm>
            <a:off x="330200" y="6540500"/>
            <a:ext cx="457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 dirty="0">
                <a:solidFill>
                  <a:srgbClr val="64748B"/>
                </a:solidFill>
                <a:latin typeface="Aptos" panose="020B0004020202020204" pitchFamily="34" charset="0"/>
              </a:rPr>
              <a:t>Mean Chat | TFC Desarrollo Web</a:t>
            </a:r>
          </a:p>
        </p:txBody>
      </p:sp>
      <p:sp>
        <p:nvSpPr>
          <p:cNvPr id="8" name="MC_THEME_FOOTER_R">
            <a:extLst>
              <a:ext uri="{FF2B5EF4-FFF2-40B4-BE49-F238E27FC236}">
                <a16:creationId xmlns:a16="http://schemas.microsoft.com/office/drawing/2014/main" id="{D6F5EE9A-0F1F-B417-DB89-F827CAA3D1C4}"/>
              </a:ext>
            </a:extLst>
          </p:cNvPr>
          <p:cNvSpPr txBox="1"/>
          <p:nvPr/>
        </p:nvSpPr>
        <p:spPr>
          <a:xfrm>
            <a:off x="11176000" y="6540500"/>
            <a:ext cx="7112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s-ES" sz="1000">
                <a:solidFill>
                  <a:srgbClr val="64748B"/>
                </a:solidFill>
                <a:latin typeface="Aptos" panose="020B0004020202020204" pitchFamily="34" charset="0"/>
              </a:rPr>
              <a:t>8/20</a:t>
            </a:r>
          </a:p>
        </p:txBody>
      </p:sp>
    </p:spTree>
    <p:extLst>
      <p:ext uri="{BB962C8B-B14F-4D97-AF65-F5344CB8AC3E}">
        <p14:creationId xmlns:p14="http://schemas.microsoft.com/office/powerpoint/2010/main" val="3105558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>
      <p:transition spd="slow">
        <p:fade thruBlk="1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C_THEME_CARD">
            <a:extLst>
              <a:ext uri="{FF2B5EF4-FFF2-40B4-BE49-F238E27FC236}">
                <a16:creationId xmlns:a16="http://schemas.microsoft.com/office/drawing/2014/main" id="{24772E9F-E3BA-CB69-7768-960235E410A1}"/>
              </a:ext>
            </a:extLst>
          </p:cNvPr>
          <p:cNvSpPr/>
          <p:nvPr/>
        </p:nvSpPr>
        <p:spPr>
          <a:xfrm>
            <a:off x="304800" y="1244600"/>
            <a:ext cx="115824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D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1F962F-63D4-CEC3-FD03-770BDA64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58800"/>
            <a:ext cx="11226800" cy="685800"/>
          </a:xfrm>
        </p:spPr>
        <p:txBody>
          <a:bodyPr>
            <a:normAutofit/>
          </a:bodyPr>
          <a:lstStyle/>
          <a:p>
            <a:r>
              <a:rPr lang="es-ES" sz="3400" b="1">
                <a:solidFill>
                  <a:srgbClr val="1E293B"/>
                </a:solidFill>
                <a:latin typeface="Aptos Display" panose="020B0004020202020204" pitchFamily="34" charset="0"/>
              </a:rPr>
              <a:t>BBDD: modelo real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C1833A-6287-491D-40F6-D9168FEBC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676400"/>
            <a:ext cx="10871200" cy="4140200"/>
          </a:xfrm>
        </p:spPr>
        <p:txBody>
          <a:bodyPr>
            <a:norm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User: _id, username, passwordHash, name, surname, email.</a:t>
            </a:r>
            <a:endParaRPr lang="en-US" sz="2200">
              <a:solidFill>
                <a:srgbClr val="334155"/>
              </a:solidFill>
              <a:latin typeface="Aptos" panose="020B0004020202020204" pitchFamily="34" charset="0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n-US" sz="2200">
                <a:solidFill>
                  <a:srgbClr val="334155"/>
                </a:solidFill>
                <a:latin typeface="Aptos" panose="020B0004020202020204" pitchFamily="34" charset="0"/>
              </a:rPr>
              <a:t>Chat: _id, isGroup, members[], name, lastMessage, createdAt, updatedAt.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n-US" sz="2200">
                <a:solidFill>
                  <a:srgbClr val="334155"/>
                </a:solidFill>
                <a:latin typeface="Aptos" panose="020B0004020202020204" pitchFamily="34" charset="0"/>
              </a:rPr>
              <a:t>Message: _id, chat, sender, content, type (text|location), createdAt.</a:t>
            </a:r>
            <a:endParaRPr lang="pt-BR" sz="2200">
              <a:solidFill>
                <a:srgbClr val="334155"/>
              </a:solidFill>
              <a:latin typeface="Aptos" panose="020B0004020202020204" pitchFamily="34" charset="0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pt-BR" sz="2200">
                <a:solidFill>
                  <a:srgbClr val="334155"/>
                </a:solidFill>
                <a:latin typeface="Aptos" panose="020B0004020202020204" pitchFamily="34" charset="0"/>
              </a:rPr>
              <a:t>Relacion User-Chat (N:M) y Chat-Message (1:N).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pt-BR" sz="2200">
                <a:solidFill>
                  <a:srgbClr val="334155"/>
                </a:solidFill>
                <a:latin typeface="Aptos" panose="020B0004020202020204" pitchFamily="34" charset="0"/>
              </a:rPr>
              <a:t>Visual sugerido: diagrama ER User-Chat-Message.</a:t>
            </a:r>
            <a:endParaRPr lang="es-ES" sz="220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  <p:sp>
        <p:nvSpPr>
          <p:cNvPr id="4" name="MC_THEME_TOPBAND">
            <a:extLst>
              <a:ext uri="{FF2B5EF4-FFF2-40B4-BE49-F238E27FC236}">
                <a16:creationId xmlns:a16="http://schemas.microsoft.com/office/drawing/2014/main" id="{19B461C6-DD9F-AB6F-A636-5B4DA6D2939E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C_THEME_TOPLINE">
            <a:extLst>
              <a:ext uri="{FF2B5EF4-FFF2-40B4-BE49-F238E27FC236}">
                <a16:creationId xmlns:a16="http://schemas.microsoft.com/office/drawing/2014/main" id="{F088001D-E75A-E65A-6672-393C6C678F53}"/>
              </a:ext>
            </a:extLst>
          </p:cNvPr>
          <p:cNvSpPr/>
          <p:nvPr/>
        </p:nvSpPr>
        <p:spPr>
          <a:xfrm>
            <a:off x="0" y="431800"/>
            <a:ext cx="12192000" cy="38100"/>
          </a:xfrm>
          <a:prstGeom prst="rect">
            <a:avLst/>
          </a:prstGeom>
          <a:solidFill>
            <a:srgbClr val="2563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MC_THEME_FOOTER_L">
            <a:extLst>
              <a:ext uri="{FF2B5EF4-FFF2-40B4-BE49-F238E27FC236}">
                <a16:creationId xmlns:a16="http://schemas.microsoft.com/office/drawing/2014/main" id="{F1AF0D49-85E4-C48E-F6D0-3D5382A603B4}"/>
              </a:ext>
            </a:extLst>
          </p:cNvPr>
          <p:cNvSpPr txBox="1"/>
          <p:nvPr/>
        </p:nvSpPr>
        <p:spPr>
          <a:xfrm>
            <a:off x="330200" y="6540500"/>
            <a:ext cx="457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 dirty="0">
                <a:solidFill>
                  <a:srgbClr val="64748B"/>
                </a:solidFill>
                <a:latin typeface="Aptos" panose="020B0004020202020204" pitchFamily="34" charset="0"/>
              </a:rPr>
              <a:t>Mean Chat | TFC Desarrollo Web</a:t>
            </a:r>
          </a:p>
        </p:txBody>
      </p:sp>
      <p:sp>
        <p:nvSpPr>
          <p:cNvPr id="8" name="MC_THEME_FOOTER_R">
            <a:extLst>
              <a:ext uri="{FF2B5EF4-FFF2-40B4-BE49-F238E27FC236}">
                <a16:creationId xmlns:a16="http://schemas.microsoft.com/office/drawing/2014/main" id="{53E776E7-79C3-1304-CF25-04D74C6C0C6A}"/>
              </a:ext>
            </a:extLst>
          </p:cNvPr>
          <p:cNvSpPr txBox="1"/>
          <p:nvPr/>
        </p:nvSpPr>
        <p:spPr>
          <a:xfrm>
            <a:off x="11176000" y="6540500"/>
            <a:ext cx="7112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s-ES" sz="1000">
                <a:solidFill>
                  <a:srgbClr val="64748B"/>
                </a:solidFill>
                <a:latin typeface="Aptos" panose="020B0004020202020204" pitchFamily="34" charset="0"/>
              </a:rPr>
              <a:t>9/20</a:t>
            </a:r>
          </a:p>
        </p:txBody>
      </p:sp>
    </p:spTree>
    <p:extLst>
      <p:ext uri="{BB962C8B-B14F-4D97-AF65-F5344CB8AC3E}">
        <p14:creationId xmlns:p14="http://schemas.microsoft.com/office/powerpoint/2010/main" val="466504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>
      <p:transition spd="slow">
        <p:fade thruBlk="1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C_THEME_CARD">
            <a:extLst>
              <a:ext uri="{FF2B5EF4-FFF2-40B4-BE49-F238E27FC236}">
                <a16:creationId xmlns:a16="http://schemas.microsoft.com/office/drawing/2014/main" id="{7EE8ECD7-F858-4A52-9802-13D5069F320C}"/>
              </a:ext>
            </a:extLst>
          </p:cNvPr>
          <p:cNvSpPr/>
          <p:nvPr/>
        </p:nvSpPr>
        <p:spPr>
          <a:xfrm>
            <a:off x="304800" y="1244600"/>
            <a:ext cx="115824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D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67F9AAF-65DB-1994-CCD8-388964F0A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58800"/>
            <a:ext cx="11226800" cy="685800"/>
          </a:xfrm>
        </p:spPr>
        <p:txBody>
          <a:bodyPr>
            <a:normAutofit/>
          </a:bodyPr>
          <a:lstStyle/>
          <a:p>
            <a:r>
              <a:rPr lang="es-ES" sz="3400" b="1">
                <a:solidFill>
                  <a:srgbClr val="1E293B"/>
                </a:solidFill>
                <a:latin typeface="Aptos Display" panose="020B0004020202020204" pitchFamily="34" charset="0"/>
              </a:rPr>
              <a:t>Flujo de autenticacion (JWT)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A90043-8A19-DB79-7AA6-CAA923AD6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676400"/>
            <a:ext cx="10871200" cy="4140200"/>
          </a:xfrm>
        </p:spPr>
        <p:txBody>
          <a:bodyPr>
            <a:norm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Login valida credenciales y devuelve JWT.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Frontend envia Authorization: Bearer token en rutas protegidas.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Middleware valida token y habilita acceso segun usuario.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Rate limiting en /auth reduce riesgo de fuerza bruta.</a:t>
            </a:r>
          </a:p>
        </p:txBody>
      </p:sp>
      <p:sp>
        <p:nvSpPr>
          <p:cNvPr id="4" name="MC_THEME_TOPBAND">
            <a:extLst>
              <a:ext uri="{FF2B5EF4-FFF2-40B4-BE49-F238E27FC236}">
                <a16:creationId xmlns:a16="http://schemas.microsoft.com/office/drawing/2014/main" id="{9785C86A-93DE-6900-E344-41951C4639F5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C_THEME_TOPLINE">
            <a:extLst>
              <a:ext uri="{FF2B5EF4-FFF2-40B4-BE49-F238E27FC236}">
                <a16:creationId xmlns:a16="http://schemas.microsoft.com/office/drawing/2014/main" id="{A44C6A59-88B7-05AC-B4C4-FDEB026DA952}"/>
              </a:ext>
            </a:extLst>
          </p:cNvPr>
          <p:cNvSpPr/>
          <p:nvPr/>
        </p:nvSpPr>
        <p:spPr>
          <a:xfrm>
            <a:off x="0" y="431800"/>
            <a:ext cx="12192000" cy="38100"/>
          </a:xfrm>
          <a:prstGeom prst="rect">
            <a:avLst/>
          </a:prstGeom>
          <a:solidFill>
            <a:srgbClr val="2563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MC_THEME_FOOTER_L">
            <a:extLst>
              <a:ext uri="{FF2B5EF4-FFF2-40B4-BE49-F238E27FC236}">
                <a16:creationId xmlns:a16="http://schemas.microsoft.com/office/drawing/2014/main" id="{D090D5C6-79A3-CF39-8B9D-5DB58CA1F919}"/>
              </a:ext>
            </a:extLst>
          </p:cNvPr>
          <p:cNvSpPr txBox="1"/>
          <p:nvPr/>
        </p:nvSpPr>
        <p:spPr>
          <a:xfrm>
            <a:off x="330200" y="6540500"/>
            <a:ext cx="457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 dirty="0">
                <a:solidFill>
                  <a:srgbClr val="64748B"/>
                </a:solidFill>
                <a:latin typeface="Aptos" panose="020B0004020202020204" pitchFamily="34" charset="0"/>
              </a:rPr>
              <a:t>Mean Chat | TFC Desarrollo Web</a:t>
            </a:r>
          </a:p>
        </p:txBody>
      </p:sp>
      <p:sp>
        <p:nvSpPr>
          <p:cNvPr id="8" name="MC_THEME_FOOTER_R">
            <a:extLst>
              <a:ext uri="{FF2B5EF4-FFF2-40B4-BE49-F238E27FC236}">
                <a16:creationId xmlns:a16="http://schemas.microsoft.com/office/drawing/2014/main" id="{49F23E24-290C-A9B3-36C8-8233B2E9A1E4}"/>
              </a:ext>
            </a:extLst>
          </p:cNvPr>
          <p:cNvSpPr txBox="1"/>
          <p:nvPr/>
        </p:nvSpPr>
        <p:spPr>
          <a:xfrm>
            <a:off x="11176000" y="6540500"/>
            <a:ext cx="7112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s-ES" sz="1000">
                <a:solidFill>
                  <a:srgbClr val="64748B"/>
                </a:solidFill>
                <a:latin typeface="Aptos" panose="020B0004020202020204" pitchFamily="34" charset="0"/>
              </a:rPr>
              <a:t>10/20</a:t>
            </a:r>
          </a:p>
        </p:txBody>
      </p:sp>
    </p:spTree>
    <p:extLst>
      <p:ext uri="{BB962C8B-B14F-4D97-AF65-F5344CB8AC3E}">
        <p14:creationId xmlns:p14="http://schemas.microsoft.com/office/powerpoint/2010/main" val="3170017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>
      <p:transition spd="slow">
        <p:fade thruBlk="1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C_THEME_CARD">
            <a:extLst>
              <a:ext uri="{FF2B5EF4-FFF2-40B4-BE49-F238E27FC236}">
                <a16:creationId xmlns:a16="http://schemas.microsoft.com/office/drawing/2014/main" id="{FECDBECA-D243-E04F-BDAB-1473DE78075E}"/>
              </a:ext>
            </a:extLst>
          </p:cNvPr>
          <p:cNvSpPr/>
          <p:nvPr/>
        </p:nvSpPr>
        <p:spPr>
          <a:xfrm>
            <a:off x="304800" y="1244600"/>
            <a:ext cx="115824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D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276AA9-5B9C-9F91-37B8-F0646669E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58800"/>
            <a:ext cx="11226800" cy="685800"/>
          </a:xfrm>
        </p:spPr>
        <p:txBody>
          <a:bodyPr>
            <a:normAutofit/>
          </a:bodyPr>
          <a:lstStyle/>
          <a:p>
            <a:r>
              <a:rPr lang="es-ES" sz="3400" b="1">
                <a:solidFill>
                  <a:srgbClr val="1E293B"/>
                </a:solidFill>
                <a:latin typeface="Aptos Display" panose="020B0004020202020204" pitchFamily="34" charset="0"/>
              </a:rPr>
              <a:t>Flujo de mensajeria en tiempo real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2A7F78-B2DD-2187-872B-98BABEE54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676400"/>
            <a:ext cx="10871200" cy="4140200"/>
          </a:xfrm>
        </p:spPr>
        <p:txBody>
          <a:bodyPr>
            <a:norm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Cliente emite chat-message con contenido.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Servidor valida membresia en chat.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Mensaje se guarda en MongoDB.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Servidor emite chat-message a la sala y chat-updated a miembros.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Clientes actualizan UI sin recargar.</a:t>
            </a:r>
          </a:p>
        </p:txBody>
      </p:sp>
      <p:sp>
        <p:nvSpPr>
          <p:cNvPr id="4" name="MC_THEME_TOPBAND">
            <a:extLst>
              <a:ext uri="{FF2B5EF4-FFF2-40B4-BE49-F238E27FC236}">
                <a16:creationId xmlns:a16="http://schemas.microsoft.com/office/drawing/2014/main" id="{CAD425B2-163E-4B43-EA75-E828D1A2285E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C_THEME_TOPLINE">
            <a:extLst>
              <a:ext uri="{FF2B5EF4-FFF2-40B4-BE49-F238E27FC236}">
                <a16:creationId xmlns:a16="http://schemas.microsoft.com/office/drawing/2014/main" id="{2C80D170-99A4-325F-AABF-90C5CE17F825}"/>
              </a:ext>
            </a:extLst>
          </p:cNvPr>
          <p:cNvSpPr/>
          <p:nvPr/>
        </p:nvSpPr>
        <p:spPr>
          <a:xfrm>
            <a:off x="0" y="431800"/>
            <a:ext cx="12192000" cy="38100"/>
          </a:xfrm>
          <a:prstGeom prst="rect">
            <a:avLst/>
          </a:prstGeom>
          <a:solidFill>
            <a:srgbClr val="2563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MC_THEME_FOOTER_L">
            <a:extLst>
              <a:ext uri="{FF2B5EF4-FFF2-40B4-BE49-F238E27FC236}">
                <a16:creationId xmlns:a16="http://schemas.microsoft.com/office/drawing/2014/main" id="{BD298FD8-DC3C-25C1-4E0B-77D99A92830B}"/>
              </a:ext>
            </a:extLst>
          </p:cNvPr>
          <p:cNvSpPr txBox="1"/>
          <p:nvPr/>
        </p:nvSpPr>
        <p:spPr>
          <a:xfrm>
            <a:off x="330200" y="6540500"/>
            <a:ext cx="457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 dirty="0">
                <a:solidFill>
                  <a:srgbClr val="64748B"/>
                </a:solidFill>
                <a:latin typeface="Aptos" panose="020B0004020202020204" pitchFamily="34" charset="0"/>
              </a:rPr>
              <a:t>Mean Chat | TFC Desarrollo Web</a:t>
            </a:r>
          </a:p>
        </p:txBody>
      </p:sp>
      <p:sp>
        <p:nvSpPr>
          <p:cNvPr id="8" name="MC_THEME_FOOTER_R">
            <a:extLst>
              <a:ext uri="{FF2B5EF4-FFF2-40B4-BE49-F238E27FC236}">
                <a16:creationId xmlns:a16="http://schemas.microsoft.com/office/drawing/2014/main" id="{27E2C3B2-7E5E-178E-E71B-270B7614A220}"/>
              </a:ext>
            </a:extLst>
          </p:cNvPr>
          <p:cNvSpPr txBox="1"/>
          <p:nvPr/>
        </p:nvSpPr>
        <p:spPr>
          <a:xfrm>
            <a:off x="11176000" y="6540500"/>
            <a:ext cx="7112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s-ES" sz="1000">
                <a:solidFill>
                  <a:srgbClr val="64748B"/>
                </a:solidFill>
                <a:latin typeface="Aptos" panose="020B0004020202020204" pitchFamily="34" charset="0"/>
              </a:rPr>
              <a:t>11/20</a:t>
            </a:r>
          </a:p>
        </p:txBody>
      </p:sp>
    </p:spTree>
    <p:extLst>
      <p:ext uri="{BB962C8B-B14F-4D97-AF65-F5344CB8AC3E}">
        <p14:creationId xmlns:p14="http://schemas.microsoft.com/office/powerpoint/2010/main" val="1022326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>
      <p:transition spd="slow">
        <p:fade thruBlk="1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C_THEME_CARD">
            <a:extLst>
              <a:ext uri="{FF2B5EF4-FFF2-40B4-BE49-F238E27FC236}">
                <a16:creationId xmlns:a16="http://schemas.microsoft.com/office/drawing/2014/main" id="{A14EE843-7C0F-3EF1-68FA-E28449EA56F2}"/>
              </a:ext>
            </a:extLst>
          </p:cNvPr>
          <p:cNvSpPr/>
          <p:nvPr/>
        </p:nvSpPr>
        <p:spPr>
          <a:xfrm>
            <a:off x="304800" y="1244600"/>
            <a:ext cx="115824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D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CAB7C11-B8BC-ADE7-3BDC-AE81E952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58800"/>
            <a:ext cx="11226800" cy="685800"/>
          </a:xfrm>
        </p:spPr>
        <p:txBody>
          <a:bodyPr>
            <a:normAutofit/>
          </a:bodyPr>
          <a:lstStyle/>
          <a:p>
            <a:r>
              <a:rPr lang="es-ES" sz="3400" b="1">
                <a:solidFill>
                  <a:srgbClr val="1E293B"/>
                </a:solidFill>
                <a:latin typeface="Aptos Display" panose="020B0004020202020204" pitchFamily="34" charset="0"/>
              </a:rPr>
              <a:t>API REST principal (real)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B449680-A188-09DD-BD60-2A224C993D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676400"/>
            <a:ext cx="10871200" cy="4140200"/>
          </a:xfrm>
        </p:spPr>
        <p:txBody>
          <a:bodyPr>
            <a:norm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n-US" sz="2200">
                <a:solidFill>
                  <a:srgbClr val="334155"/>
                </a:solidFill>
                <a:latin typeface="Aptos" panose="020B0004020202020204" pitchFamily="34" charset="0"/>
              </a:rPr>
              <a:t>Auth: POST /auth/register, POST /auth/login, GET /auth/me, GET /auth/users.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n-US" sz="2200">
                <a:solidFill>
                  <a:srgbClr val="334155"/>
                </a:solidFill>
                <a:latin typeface="Aptos" panose="020B0004020202020204" pitchFamily="34" charset="0"/>
              </a:rPr>
              <a:t>Chat: POST /chat, GET /chat, GET /chat/:id.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n-US" sz="2200">
                <a:solidFill>
                  <a:srgbClr val="334155"/>
                </a:solidFill>
                <a:latin typeface="Aptos" panose="020B0004020202020204" pitchFamily="34" charset="0"/>
              </a:rPr>
              <a:t>Historial: GET /chat/:id/messages?page=1&amp;limit=30.</a:t>
            </a:r>
            <a:endParaRPr lang="es-ES" sz="2200">
              <a:solidFill>
                <a:srgbClr val="334155"/>
              </a:solidFill>
              <a:latin typeface="Aptos" panose="020B0004020202020204" pitchFamily="34" charset="0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Las rutas de chat requieren JWT.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El envio de mensajes en vivo se hace por Socket.IO, no por POST REST.</a:t>
            </a:r>
          </a:p>
        </p:txBody>
      </p:sp>
      <p:sp>
        <p:nvSpPr>
          <p:cNvPr id="4" name="MC_THEME_TOPBAND">
            <a:extLst>
              <a:ext uri="{FF2B5EF4-FFF2-40B4-BE49-F238E27FC236}">
                <a16:creationId xmlns:a16="http://schemas.microsoft.com/office/drawing/2014/main" id="{9D7202D8-150B-DBAB-A4DF-480156BE7780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C_THEME_TOPLINE">
            <a:extLst>
              <a:ext uri="{FF2B5EF4-FFF2-40B4-BE49-F238E27FC236}">
                <a16:creationId xmlns:a16="http://schemas.microsoft.com/office/drawing/2014/main" id="{7581B7DA-2699-6055-E014-498003A1F8BA}"/>
              </a:ext>
            </a:extLst>
          </p:cNvPr>
          <p:cNvSpPr/>
          <p:nvPr/>
        </p:nvSpPr>
        <p:spPr>
          <a:xfrm>
            <a:off x="0" y="431800"/>
            <a:ext cx="12192000" cy="38100"/>
          </a:xfrm>
          <a:prstGeom prst="rect">
            <a:avLst/>
          </a:prstGeom>
          <a:solidFill>
            <a:srgbClr val="2563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MC_THEME_FOOTER_L">
            <a:extLst>
              <a:ext uri="{FF2B5EF4-FFF2-40B4-BE49-F238E27FC236}">
                <a16:creationId xmlns:a16="http://schemas.microsoft.com/office/drawing/2014/main" id="{F7BF3012-CD99-2F41-8C1B-107AC5812BB7}"/>
              </a:ext>
            </a:extLst>
          </p:cNvPr>
          <p:cNvSpPr txBox="1"/>
          <p:nvPr/>
        </p:nvSpPr>
        <p:spPr>
          <a:xfrm>
            <a:off x="330200" y="6540500"/>
            <a:ext cx="457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 dirty="0">
                <a:solidFill>
                  <a:srgbClr val="64748B"/>
                </a:solidFill>
                <a:latin typeface="Aptos" panose="020B0004020202020204" pitchFamily="34" charset="0"/>
              </a:rPr>
              <a:t>Mean Chat | TFC Desarrollo Web</a:t>
            </a:r>
          </a:p>
        </p:txBody>
      </p:sp>
      <p:sp>
        <p:nvSpPr>
          <p:cNvPr id="8" name="MC_THEME_FOOTER_R">
            <a:extLst>
              <a:ext uri="{FF2B5EF4-FFF2-40B4-BE49-F238E27FC236}">
                <a16:creationId xmlns:a16="http://schemas.microsoft.com/office/drawing/2014/main" id="{771D1396-B761-5097-023A-72BB15C431FB}"/>
              </a:ext>
            </a:extLst>
          </p:cNvPr>
          <p:cNvSpPr txBox="1"/>
          <p:nvPr/>
        </p:nvSpPr>
        <p:spPr>
          <a:xfrm>
            <a:off x="11176000" y="6540500"/>
            <a:ext cx="7112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s-ES" sz="1000">
                <a:solidFill>
                  <a:srgbClr val="64748B"/>
                </a:solidFill>
                <a:latin typeface="Aptos" panose="020B0004020202020204" pitchFamily="34" charset="0"/>
              </a:rPr>
              <a:t>12/20</a:t>
            </a:r>
          </a:p>
        </p:txBody>
      </p:sp>
    </p:spTree>
    <p:extLst>
      <p:ext uri="{BB962C8B-B14F-4D97-AF65-F5344CB8AC3E}">
        <p14:creationId xmlns:p14="http://schemas.microsoft.com/office/powerpoint/2010/main" val="946022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>
      <p:transition spd="slow">
        <p:fade thruBlk="1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C_THEME_CARD">
            <a:extLst>
              <a:ext uri="{FF2B5EF4-FFF2-40B4-BE49-F238E27FC236}">
                <a16:creationId xmlns:a16="http://schemas.microsoft.com/office/drawing/2014/main" id="{67A3CE6B-3F01-3BC0-7E97-BDE6A5F1EE76}"/>
              </a:ext>
            </a:extLst>
          </p:cNvPr>
          <p:cNvSpPr/>
          <p:nvPr/>
        </p:nvSpPr>
        <p:spPr>
          <a:xfrm>
            <a:off x="304800" y="1244600"/>
            <a:ext cx="115824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D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A4EE33E-658B-5D55-F6F1-BBE68255F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58800"/>
            <a:ext cx="11226800" cy="685800"/>
          </a:xfrm>
        </p:spPr>
        <p:txBody>
          <a:bodyPr>
            <a:normAutofit/>
          </a:bodyPr>
          <a:lstStyle/>
          <a:p>
            <a:r>
              <a:rPr lang="es-ES" sz="3400" b="1">
                <a:solidFill>
                  <a:srgbClr val="1E293B"/>
                </a:solidFill>
                <a:latin typeface="Aptos Display" panose="020B0004020202020204" pitchFamily="34" charset="0"/>
              </a:rPr>
              <a:t>Eventos Socket.IO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AC88EF-9B38-D631-EBBA-5745B5DAA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676400"/>
            <a:ext cx="10871200" cy="4140200"/>
          </a:xfrm>
        </p:spPr>
        <p:txBody>
          <a:bodyPr>
            <a:norm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Cliente -&gt; Servidor: join-chat, leave-chat, chat-message.</a:t>
            </a:r>
            <a:endParaRPr lang="en-US" sz="2200">
              <a:solidFill>
                <a:srgbClr val="334155"/>
              </a:solidFill>
              <a:latin typeface="Aptos" panose="020B0004020202020204" pitchFamily="34" charset="0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n-US" sz="2200">
                <a:solidFill>
                  <a:srgbClr val="334155"/>
                </a:solidFill>
                <a:latin typeface="Aptos" panose="020B0004020202020204" pitchFamily="34" charset="0"/>
              </a:rPr>
              <a:t>Servidor -&gt; Cliente: chat-created, chat-updated, chat-message.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n-US" sz="2200">
                <a:solidFill>
                  <a:srgbClr val="334155"/>
                </a:solidFill>
                <a:latin typeface="Aptos" panose="020B0004020202020204" pitchFamily="34" charset="0"/>
              </a:rPr>
              <a:t>Eventos de presencia: user-joined y user-left.</a:t>
            </a:r>
            <a:endParaRPr lang="es-ES" sz="2200">
              <a:solidFill>
                <a:srgbClr val="334155"/>
              </a:solidFill>
              <a:latin typeface="Aptos" panose="020B0004020202020204" pitchFamily="34" charset="0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Las salas encapsulan cada conversacion.</a:t>
            </a:r>
          </a:p>
        </p:txBody>
      </p:sp>
      <p:sp>
        <p:nvSpPr>
          <p:cNvPr id="4" name="MC_THEME_TOPBAND">
            <a:extLst>
              <a:ext uri="{FF2B5EF4-FFF2-40B4-BE49-F238E27FC236}">
                <a16:creationId xmlns:a16="http://schemas.microsoft.com/office/drawing/2014/main" id="{F2CB0541-C2D9-4E03-9B66-D4FA71162AE9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C_THEME_TOPLINE">
            <a:extLst>
              <a:ext uri="{FF2B5EF4-FFF2-40B4-BE49-F238E27FC236}">
                <a16:creationId xmlns:a16="http://schemas.microsoft.com/office/drawing/2014/main" id="{A0452B44-5AE7-D799-DC99-60BFE3933A33}"/>
              </a:ext>
            </a:extLst>
          </p:cNvPr>
          <p:cNvSpPr/>
          <p:nvPr/>
        </p:nvSpPr>
        <p:spPr>
          <a:xfrm>
            <a:off x="0" y="431800"/>
            <a:ext cx="12192000" cy="38100"/>
          </a:xfrm>
          <a:prstGeom prst="rect">
            <a:avLst/>
          </a:prstGeom>
          <a:solidFill>
            <a:srgbClr val="2563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MC_THEME_FOOTER_L">
            <a:extLst>
              <a:ext uri="{FF2B5EF4-FFF2-40B4-BE49-F238E27FC236}">
                <a16:creationId xmlns:a16="http://schemas.microsoft.com/office/drawing/2014/main" id="{35928200-46EC-5116-C64F-B41D31D49D75}"/>
              </a:ext>
            </a:extLst>
          </p:cNvPr>
          <p:cNvSpPr txBox="1"/>
          <p:nvPr/>
        </p:nvSpPr>
        <p:spPr>
          <a:xfrm>
            <a:off x="330200" y="6540500"/>
            <a:ext cx="457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 dirty="0">
                <a:solidFill>
                  <a:srgbClr val="64748B"/>
                </a:solidFill>
                <a:latin typeface="Aptos" panose="020B0004020202020204" pitchFamily="34" charset="0"/>
              </a:rPr>
              <a:t>Mean Chat | TFC Desarrollo Web</a:t>
            </a:r>
          </a:p>
        </p:txBody>
      </p:sp>
      <p:sp>
        <p:nvSpPr>
          <p:cNvPr id="8" name="MC_THEME_FOOTER_R">
            <a:extLst>
              <a:ext uri="{FF2B5EF4-FFF2-40B4-BE49-F238E27FC236}">
                <a16:creationId xmlns:a16="http://schemas.microsoft.com/office/drawing/2014/main" id="{5E3B48B7-F797-CED7-27C3-33D4DB642227}"/>
              </a:ext>
            </a:extLst>
          </p:cNvPr>
          <p:cNvSpPr txBox="1"/>
          <p:nvPr/>
        </p:nvSpPr>
        <p:spPr>
          <a:xfrm>
            <a:off x="11176000" y="6540500"/>
            <a:ext cx="7112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s-ES" sz="1000">
                <a:solidFill>
                  <a:srgbClr val="64748B"/>
                </a:solidFill>
                <a:latin typeface="Aptos" panose="020B0004020202020204" pitchFamily="34" charset="0"/>
              </a:rPr>
              <a:t>13/20</a:t>
            </a:r>
          </a:p>
        </p:txBody>
      </p:sp>
    </p:spTree>
    <p:extLst>
      <p:ext uri="{BB962C8B-B14F-4D97-AF65-F5344CB8AC3E}">
        <p14:creationId xmlns:p14="http://schemas.microsoft.com/office/powerpoint/2010/main" val="4001749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>
      <p:transition spd="slow">
        <p:fade thruBlk="1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C_THEME_CARD">
            <a:extLst>
              <a:ext uri="{FF2B5EF4-FFF2-40B4-BE49-F238E27FC236}">
                <a16:creationId xmlns:a16="http://schemas.microsoft.com/office/drawing/2014/main" id="{07C7EDDA-F8AB-F080-B3F5-95C7BED16F49}"/>
              </a:ext>
            </a:extLst>
          </p:cNvPr>
          <p:cNvSpPr/>
          <p:nvPr/>
        </p:nvSpPr>
        <p:spPr>
          <a:xfrm>
            <a:off x="304800" y="1244600"/>
            <a:ext cx="115824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D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33DCC44-6D0D-9FF1-7725-29767B113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58800"/>
            <a:ext cx="11226800" cy="685800"/>
          </a:xfrm>
        </p:spPr>
        <p:txBody>
          <a:bodyPr>
            <a:normAutofit/>
          </a:bodyPr>
          <a:lstStyle/>
          <a:p>
            <a:r>
              <a:rPr lang="es-ES" sz="3400" b="1">
                <a:solidFill>
                  <a:srgbClr val="1E293B"/>
                </a:solidFill>
                <a:latin typeface="Aptos Display" panose="020B0004020202020204" pitchFamily="34" charset="0"/>
              </a:rPr>
              <a:t>Dockerizacion y despliegue local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8FBC527-C749-E44E-B2E4-28D014715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676400"/>
            <a:ext cx="10871200" cy="4140200"/>
          </a:xfrm>
        </p:spPr>
        <p:txBody>
          <a:bodyPr>
            <a:norm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n-US" sz="2200">
                <a:solidFill>
                  <a:srgbClr val="334155"/>
                </a:solidFill>
                <a:latin typeface="Aptos" panose="020B0004020202020204" pitchFamily="34" charset="0"/>
              </a:rPr>
              <a:t>Servicios: frontend, backend, mongo:4.4.</a:t>
            </a:r>
            <a:endParaRPr lang="es-ES" sz="2200">
              <a:solidFill>
                <a:srgbClr val="334155"/>
              </a:solidFill>
              <a:latin typeface="Aptos" panose="020B0004020202020204" pitchFamily="34" charset="0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Compose levanta todo el stack en un comando.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Configuracion centralizada para entorno local academico.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Swagger solo fuera de produccion.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En produccion real, secretos en gestor seguro.</a:t>
            </a:r>
          </a:p>
        </p:txBody>
      </p:sp>
      <p:sp>
        <p:nvSpPr>
          <p:cNvPr id="4" name="MC_THEME_TOPBAND">
            <a:extLst>
              <a:ext uri="{FF2B5EF4-FFF2-40B4-BE49-F238E27FC236}">
                <a16:creationId xmlns:a16="http://schemas.microsoft.com/office/drawing/2014/main" id="{48862145-DDF6-A4B0-E42B-1F3627AA0149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C_THEME_TOPLINE">
            <a:extLst>
              <a:ext uri="{FF2B5EF4-FFF2-40B4-BE49-F238E27FC236}">
                <a16:creationId xmlns:a16="http://schemas.microsoft.com/office/drawing/2014/main" id="{AC532F49-235A-570D-B231-D71D041E0925}"/>
              </a:ext>
            </a:extLst>
          </p:cNvPr>
          <p:cNvSpPr/>
          <p:nvPr/>
        </p:nvSpPr>
        <p:spPr>
          <a:xfrm>
            <a:off x="0" y="431800"/>
            <a:ext cx="12192000" cy="38100"/>
          </a:xfrm>
          <a:prstGeom prst="rect">
            <a:avLst/>
          </a:prstGeom>
          <a:solidFill>
            <a:srgbClr val="2563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MC_THEME_FOOTER_L">
            <a:extLst>
              <a:ext uri="{FF2B5EF4-FFF2-40B4-BE49-F238E27FC236}">
                <a16:creationId xmlns:a16="http://schemas.microsoft.com/office/drawing/2014/main" id="{89483C2E-D68C-B475-C46D-7ADFAF49C517}"/>
              </a:ext>
            </a:extLst>
          </p:cNvPr>
          <p:cNvSpPr txBox="1"/>
          <p:nvPr/>
        </p:nvSpPr>
        <p:spPr>
          <a:xfrm>
            <a:off x="330200" y="6540500"/>
            <a:ext cx="457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 dirty="0">
                <a:solidFill>
                  <a:srgbClr val="64748B"/>
                </a:solidFill>
                <a:latin typeface="Aptos" panose="020B0004020202020204" pitchFamily="34" charset="0"/>
              </a:rPr>
              <a:t>Mean Chat | TFC Desarrollo Web</a:t>
            </a:r>
          </a:p>
        </p:txBody>
      </p:sp>
      <p:sp>
        <p:nvSpPr>
          <p:cNvPr id="8" name="MC_THEME_FOOTER_R">
            <a:extLst>
              <a:ext uri="{FF2B5EF4-FFF2-40B4-BE49-F238E27FC236}">
                <a16:creationId xmlns:a16="http://schemas.microsoft.com/office/drawing/2014/main" id="{B597229E-78ED-10AB-70D7-E786E8F6CFE5}"/>
              </a:ext>
            </a:extLst>
          </p:cNvPr>
          <p:cNvSpPr txBox="1"/>
          <p:nvPr/>
        </p:nvSpPr>
        <p:spPr>
          <a:xfrm>
            <a:off x="11176000" y="6540500"/>
            <a:ext cx="7112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s-ES" sz="1000">
                <a:solidFill>
                  <a:srgbClr val="64748B"/>
                </a:solidFill>
                <a:latin typeface="Aptos" panose="020B0004020202020204" pitchFamily="34" charset="0"/>
              </a:rPr>
              <a:t>14/20</a:t>
            </a:r>
          </a:p>
        </p:txBody>
      </p:sp>
    </p:spTree>
    <p:extLst>
      <p:ext uri="{BB962C8B-B14F-4D97-AF65-F5344CB8AC3E}">
        <p14:creationId xmlns:p14="http://schemas.microsoft.com/office/powerpoint/2010/main" val="1045846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>
      <p:transition spd="slow">
        <p:fade thruBlk="1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C_THEME_CARD">
            <a:extLst>
              <a:ext uri="{FF2B5EF4-FFF2-40B4-BE49-F238E27FC236}">
                <a16:creationId xmlns:a16="http://schemas.microsoft.com/office/drawing/2014/main" id="{919D342E-B236-8683-3539-A687F841E55F}"/>
              </a:ext>
            </a:extLst>
          </p:cNvPr>
          <p:cNvSpPr/>
          <p:nvPr/>
        </p:nvSpPr>
        <p:spPr>
          <a:xfrm>
            <a:off x="304800" y="1244600"/>
            <a:ext cx="115824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D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C76DA9-C876-E1C3-8E7C-280AF643F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58800"/>
            <a:ext cx="11226800" cy="685800"/>
          </a:xfrm>
        </p:spPr>
        <p:txBody>
          <a:bodyPr>
            <a:normAutofit/>
          </a:bodyPr>
          <a:lstStyle/>
          <a:p>
            <a:r>
              <a:rPr lang="es-ES" sz="3400" b="1">
                <a:solidFill>
                  <a:srgbClr val="1E293B"/>
                </a:solidFill>
                <a:latin typeface="Aptos Display" panose="020B0004020202020204" pitchFamily="34" charset="0"/>
              </a:rPr>
              <a:t>Seguridad aplicada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E47D26-F51A-869A-4214-4D74843D8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676400"/>
            <a:ext cx="10871200" cy="4140200"/>
          </a:xfrm>
        </p:spPr>
        <p:txBody>
          <a:bodyPr>
            <a:norm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JWT para autenticacion y control de acceso.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Verificacion de membresia antes de entrar/enviar en chat.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Rate limiting en autenticacion.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CORS controlado por entorno.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Rutas protegidas con middleware centralizado.</a:t>
            </a:r>
          </a:p>
        </p:txBody>
      </p:sp>
      <p:sp>
        <p:nvSpPr>
          <p:cNvPr id="4" name="MC_THEME_TOPBAND">
            <a:extLst>
              <a:ext uri="{FF2B5EF4-FFF2-40B4-BE49-F238E27FC236}">
                <a16:creationId xmlns:a16="http://schemas.microsoft.com/office/drawing/2014/main" id="{C860D77F-4CCC-F5FC-7F9E-29BA171D9DE3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C_THEME_TOPLINE">
            <a:extLst>
              <a:ext uri="{FF2B5EF4-FFF2-40B4-BE49-F238E27FC236}">
                <a16:creationId xmlns:a16="http://schemas.microsoft.com/office/drawing/2014/main" id="{BA746499-5DE3-A1D0-3C6E-D3265E6ECDCB}"/>
              </a:ext>
            </a:extLst>
          </p:cNvPr>
          <p:cNvSpPr/>
          <p:nvPr/>
        </p:nvSpPr>
        <p:spPr>
          <a:xfrm>
            <a:off x="0" y="431800"/>
            <a:ext cx="12192000" cy="38100"/>
          </a:xfrm>
          <a:prstGeom prst="rect">
            <a:avLst/>
          </a:prstGeom>
          <a:solidFill>
            <a:srgbClr val="2563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MC_THEME_FOOTER_L">
            <a:extLst>
              <a:ext uri="{FF2B5EF4-FFF2-40B4-BE49-F238E27FC236}">
                <a16:creationId xmlns:a16="http://schemas.microsoft.com/office/drawing/2014/main" id="{AAC34C7D-C27B-5D5A-5BFC-3165055FA305}"/>
              </a:ext>
            </a:extLst>
          </p:cNvPr>
          <p:cNvSpPr txBox="1"/>
          <p:nvPr/>
        </p:nvSpPr>
        <p:spPr>
          <a:xfrm>
            <a:off x="330200" y="6540500"/>
            <a:ext cx="457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 dirty="0">
                <a:solidFill>
                  <a:srgbClr val="64748B"/>
                </a:solidFill>
                <a:latin typeface="Aptos" panose="020B0004020202020204" pitchFamily="34" charset="0"/>
              </a:rPr>
              <a:t>Mean Chat | TFC Desarrollo Web</a:t>
            </a:r>
          </a:p>
        </p:txBody>
      </p:sp>
      <p:sp>
        <p:nvSpPr>
          <p:cNvPr id="8" name="MC_THEME_FOOTER_R">
            <a:extLst>
              <a:ext uri="{FF2B5EF4-FFF2-40B4-BE49-F238E27FC236}">
                <a16:creationId xmlns:a16="http://schemas.microsoft.com/office/drawing/2014/main" id="{E781EEDF-5521-CAD9-9D75-7989C30E5E60}"/>
              </a:ext>
            </a:extLst>
          </p:cNvPr>
          <p:cNvSpPr txBox="1"/>
          <p:nvPr/>
        </p:nvSpPr>
        <p:spPr>
          <a:xfrm>
            <a:off x="11176000" y="6540500"/>
            <a:ext cx="7112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s-ES" sz="1000">
                <a:solidFill>
                  <a:srgbClr val="64748B"/>
                </a:solidFill>
                <a:latin typeface="Aptos" panose="020B0004020202020204" pitchFamily="34" charset="0"/>
              </a:rPr>
              <a:t>15/20</a:t>
            </a:r>
          </a:p>
        </p:txBody>
      </p:sp>
    </p:spTree>
    <p:extLst>
      <p:ext uri="{BB962C8B-B14F-4D97-AF65-F5344CB8AC3E}">
        <p14:creationId xmlns:p14="http://schemas.microsoft.com/office/powerpoint/2010/main" val="1372506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>
      <p:transition spd="slow">
        <p:fade thruBlk="1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C_THEME_CARD">
            <a:extLst>
              <a:ext uri="{FF2B5EF4-FFF2-40B4-BE49-F238E27FC236}">
                <a16:creationId xmlns:a16="http://schemas.microsoft.com/office/drawing/2014/main" id="{B9150007-EE95-9FCC-D4EB-CF2C59301200}"/>
              </a:ext>
            </a:extLst>
          </p:cNvPr>
          <p:cNvSpPr/>
          <p:nvPr/>
        </p:nvSpPr>
        <p:spPr>
          <a:xfrm>
            <a:off x="304800" y="1244600"/>
            <a:ext cx="115824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D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303BCE2-1A3C-939E-75D9-F44F2CF50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58800"/>
            <a:ext cx="11226800" cy="685800"/>
          </a:xfrm>
        </p:spPr>
        <p:txBody>
          <a:bodyPr>
            <a:normAutofit/>
          </a:bodyPr>
          <a:lstStyle/>
          <a:p>
            <a:r>
              <a:rPr lang="es-ES" sz="3400" b="1">
                <a:solidFill>
                  <a:srgbClr val="1E293B"/>
                </a:solidFill>
                <a:latin typeface="Aptos Display" panose="020B0004020202020204" pitchFamily="34" charset="0"/>
              </a:rPr>
              <a:t>Retos criticos y soluciones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26B035-339F-9C44-4593-A8E6A8E97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676400"/>
            <a:ext cx="10871200" cy="4140200"/>
          </a:xfrm>
        </p:spPr>
        <p:txBody>
          <a:bodyPr>
            <a:norm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Lista de chats no se refrescaba: resuelto con chat-created y chat-updated.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Riesgo de acceso no autorizado por socket: validacion de membresia.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Dependencia nativa en contenedor: migracion de bcrypt a bcryptjs.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Compatibilidad en BBDD contenedorizada: MongoDB fijado a 4.4.</a:t>
            </a:r>
          </a:p>
        </p:txBody>
      </p:sp>
      <p:sp>
        <p:nvSpPr>
          <p:cNvPr id="4" name="MC_THEME_TOPBAND">
            <a:extLst>
              <a:ext uri="{FF2B5EF4-FFF2-40B4-BE49-F238E27FC236}">
                <a16:creationId xmlns:a16="http://schemas.microsoft.com/office/drawing/2014/main" id="{905ECA30-193C-FE5A-C2EB-D01DB284D6E3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C_THEME_TOPLINE">
            <a:extLst>
              <a:ext uri="{FF2B5EF4-FFF2-40B4-BE49-F238E27FC236}">
                <a16:creationId xmlns:a16="http://schemas.microsoft.com/office/drawing/2014/main" id="{655F86A5-9C72-8662-13C1-97FA1CFCCEA9}"/>
              </a:ext>
            </a:extLst>
          </p:cNvPr>
          <p:cNvSpPr/>
          <p:nvPr/>
        </p:nvSpPr>
        <p:spPr>
          <a:xfrm>
            <a:off x="0" y="431800"/>
            <a:ext cx="12192000" cy="38100"/>
          </a:xfrm>
          <a:prstGeom prst="rect">
            <a:avLst/>
          </a:prstGeom>
          <a:solidFill>
            <a:srgbClr val="2563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MC_THEME_FOOTER_L">
            <a:extLst>
              <a:ext uri="{FF2B5EF4-FFF2-40B4-BE49-F238E27FC236}">
                <a16:creationId xmlns:a16="http://schemas.microsoft.com/office/drawing/2014/main" id="{3F050BA3-90F3-3E64-6E2A-F3792EB8676D}"/>
              </a:ext>
            </a:extLst>
          </p:cNvPr>
          <p:cNvSpPr txBox="1"/>
          <p:nvPr/>
        </p:nvSpPr>
        <p:spPr>
          <a:xfrm>
            <a:off x="330200" y="6540500"/>
            <a:ext cx="457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 dirty="0">
                <a:solidFill>
                  <a:srgbClr val="64748B"/>
                </a:solidFill>
                <a:latin typeface="Aptos" panose="020B0004020202020204" pitchFamily="34" charset="0"/>
              </a:rPr>
              <a:t>Mean Chat | TFC Desarrollo Web</a:t>
            </a:r>
          </a:p>
        </p:txBody>
      </p:sp>
      <p:sp>
        <p:nvSpPr>
          <p:cNvPr id="8" name="MC_THEME_FOOTER_R">
            <a:extLst>
              <a:ext uri="{FF2B5EF4-FFF2-40B4-BE49-F238E27FC236}">
                <a16:creationId xmlns:a16="http://schemas.microsoft.com/office/drawing/2014/main" id="{EDDE897C-C24A-3967-1C1F-4C06FAFD6109}"/>
              </a:ext>
            </a:extLst>
          </p:cNvPr>
          <p:cNvSpPr txBox="1"/>
          <p:nvPr/>
        </p:nvSpPr>
        <p:spPr>
          <a:xfrm>
            <a:off x="11176000" y="6540500"/>
            <a:ext cx="7112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s-ES" sz="1000">
                <a:solidFill>
                  <a:srgbClr val="64748B"/>
                </a:solidFill>
                <a:latin typeface="Aptos" panose="020B0004020202020204" pitchFamily="34" charset="0"/>
              </a:rPr>
              <a:t>16/20</a:t>
            </a:r>
          </a:p>
        </p:txBody>
      </p:sp>
    </p:spTree>
    <p:extLst>
      <p:ext uri="{BB962C8B-B14F-4D97-AF65-F5344CB8AC3E}">
        <p14:creationId xmlns:p14="http://schemas.microsoft.com/office/powerpoint/2010/main" val="285973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>
      <p:transition spd="slow">
        <p:fade thruBlk="1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C_THEME_CARD">
            <a:extLst>
              <a:ext uri="{FF2B5EF4-FFF2-40B4-BE49-F238E27FC236}">
                <a16:creationId xmlns:a16="http://schemas.microsoft.com/office/drawing/2014/main" id="{0E51E66E-105C-2C3F-1218-57644B8BA5B3}"/>
              </a:ext>
            </a:extLst>
          </p:cNvPr>
          <p:cNvSpPr/>
          <p:nvPr/>
        </p:nvSpPr>
        <p:spPr>
          <a:xfrm>
            <a:off x="304800" y="1244600"/>
            <a:ext cx="115824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D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6656F27-EA74-16FA-A302-14F9BE7E1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58800"/>
            <a:ext cx="11226800" cy="685800"/>
          </a:xfrm>
        </p:spPr>
        <p:txBody>
          <a:bodyPr>
            <a:normAutofit/>
          </a:bodyPr>
          <a:lstStyle/>
          <a:p>
            <a:r>
              <a:rPr lang="es-ES" sz="3400" b="1">
                <a:solidFill>
                  <a:srgbClr val="1E293B"/>
                </a:solidFill>
                <a:latin typeface="Aptos Display" panose="020B0004020202020204" pitchFamily="34" charset="0"/>
              </a:rPr>
              <a:t>Demo guiada y validacion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CA52A4B-60AB-B096-B9EA-AC691B517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676400"/>
            <a:ext cx="10871200" cy="4140200"/>
          </a:xfrm>
        </p:spPr>
        <p:txBody>
          <a:bodyPr>
            <a:norm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Escenario: 2 usuarios, 2 pestañas, un chat compartido.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Flujo: registro/login -&gt; crear chat -&gt; enviar mensaje -&gt; actualizar al instante.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Validacion de historial paginado.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Prueba negativa de acceso no autorizado.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Testing automatizado existente pero aun basico (area de mejora).</a:t>
            </a:r>
          </a:p>
        </p:txBody>
      </p:sp>
      <p:sp>
        <p:nvSpPr>
          <p:cNvPr id="4" name="MC_THEME_TOPBAND">
            <a:extLst>
              <a:ext uri="{FF2B5EF4-FFF2-40B4-BE49-F238E27FC236}">
                <a16:creationId xmlns:a16="http://schemas.microsoft.com/office/drawing/2014/main" id="{DDAD7394-917C-B575-AB7E-E4EAED91454B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C_THEME_TOPLINE">
            <a:extLst>
              <a:ext uri="{FF2B5EF4-FFF2-40B4-BE49-F238E27FC236}">
                <a16:creationId xmlns:a16="http://schemas.microsoft.com/office/drawing/2014/main" id="{FE5D0BB2-BA7E-5618-A850-FB79CA958DBB}"/>
              </a:ext>
            </a:extLst>
          </p:cNvPr>
          <p:cNvSpPr/>
          <p:nvPr/>
        </p:nvSpPr>
        <p:spPr>
          <a:xfrm>
            <a:off x="0" y="431800"/>
            <a:ext cx="12192000" cy="38100"/>
          </a:xfrm>
          <a:prstGeom prst="rect">
            <a:avLst/>
          </a:prstGeom>
          <a:solidFill>
            <a:srgbClr val="2563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MC_THEME_FOOTER_L">
            <a:extLst>
              <a:ext uri="{FF2B5EF4-FFF2-40B4-BE49-F238E27FC236}">
                <a16:creationId xmlns:a16="http://schemas.microsoft.com/office/drawing/2014/main" id="{2F69A81F-0002-C347-DD2A-885029531DD4}"/>
              </a:ext>
            </a:extLst>
          </p:cNvPr>
          <p:cNvSpPr txBox="1"/>
          <p:nvPr/>
        </p:nvSpPr>
        <p:spPr>
          <a:xfrm>
            <a:off x="330200" y="6540500"/>
            <a:ext cx="457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 dirty="0">
                <a:solidFill>
                  <a:srgbClr val="64748B"/>
                </a:solidFill>
                <a:latin typeface="Aptos" panose="020B0004020202020204" pitchFamily="34" charset="0"/>
              </a:rPr>
              <a:t>Mean Chat | TFC Desarrollo Web</a:t>
            </a:r>
          </a:p>
        </p:txBody>
      </p:sp>
      <p:sp>
        <p:nvSpPr>
          <p:cNvPr id="8" name="MC_THEME_FOOTER_R">
            <a:extLst>
              <a:ext uri="{FF2B5EF4-FFF2-40B4-BE49-F238E27FC236}">
                <a16:creationId xmlns:a16="http://schemas.microsoft.com/office/drawing/2014/main" id="{2D085B9C-86A8-298B-5BDD-FC0C247CC7B9}"/>
              </a:ext>
            </a:extLst>
          </p:cNvPr>
          <p:cNvSpPr txBox="1"/>
          <p:nvPr/>
        </p:nvSpPr>
        <p:spPr>
          <a:xfrm>
            <a:off x="11176000" y="6540500"/>
            <a:ext cx="7112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s-ES" sz="1000">
                <a:solidFill>
                  <a:srgbClr val="64748B"/>
                </a:solidFill>
                <a:latin typeface="Aptos" panose="020B0004020202020204" pitchFamily="34" charset="0"/>
              </a:rPr>
              <a:t>17/20</a:t>
            </a:r>
          </a:p>
        </p:txBody>
      </p:sp>
    </p:spTree>
    <p:extLst>
      <p:ext uri="{BB962C8B-B14F-4D97-AF65-F5344CB8AC3E}">
        <p14:creationId xmlns:p14="http://schemas.microsoft.com/office/powerpoint/2010/main" val="1475435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>
      <p:transition spd="slow">
        <p:fade thruBlk="1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C_THEME_CARD">
            <a:extLst>
              <a:ext uri="{FF2B5EF4-FFF2-40B4-BE49-F238E27FC236}">
                <a16:creationId xmlns:a16="http://schemas.microsoft.com/office/drawing/2014/main" id="{BAE72772-8A67-D098-5C64-2B6A2F054A0F}"/>
              </a:ext>
            </a:extLst>
          </p:cNvPr>
          <p:cNvSpPr/>
          <p:nvPr/>
        </p:nvSpPr>
        <p:spPr>
          <a:xfrm>
            <a:off x="304800" y="1244600"/>
            <a:ext cx="115824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D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A5BAC4-B678-8E89-3229-5A7397BC5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58800"/>
            <a:ext cx="11226800" cy="685800"/>
          </a:xfrm>
        </p:spPr>
        <p:txBody>
          <a:bodyPr>
            <a:normAutofit/>
          </a:bodyPr>
          <a:lstStyle/>
          <a:p>
            <a:r>
              <a:rPr lang="es-ES" sz="3400" b="1">
                <a:solidFill>
                  <a:srgbClr val="1E293B"/>
                </a:solidFill>
                <a:latin typeface="Aptos Display" panose="020B0004020202020204" pitchFamily="34" charset="0"/>
              </a:rPr>
              <a:t>Resultados obtenidos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8A52034-A1AE-89E5-1CAB-A5D4EB20B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676400"/>
            <a:ext cx="10871200" cy="4140200"/>
          </a:xfrm>
        </p:spPr>
        <p:txBody>
          <a:bodyPr>
            <a:norm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Objetivos funcionales principales implementados y operativos.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Build de frontend y ejecucion de entorno validados.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Flujo extremo a extremo comprobado manualmente.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Dato por confirmar: latencia media bajo carga.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Dato por confirmar: concurrencia maxima estable.</a:t>
            </a:r>
          </a:p>
        </p:txBody>
      </p:sp>
      <p:sp>
        <p:nvSpPr>
          <p:cNvPr id="4" name="MC_THEME_TOPBAND">
            <a:extLst>
              <a:ext uri="{FF2B5EF4-FFF2-40B4-BE49-F238E27FC236}">
                <a16:creationId xmlns:a16="http://schemas.microsoft.com/office/drawing/2014/main" id="{631163A6-4C6D-F915-7751-6FC968C10A4A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C_THEME_TOPLINE">
            <a:extLst>
              <a:ext uri="{FF2B5EF4-FFF2-40B4-BE49-F238E27FC236}">
                <a16:creationId xmlns:a16="http://schemas.microsoft.com/office/drawing/2014/main" id="{6F7D7D90-0501-CA84-E41C-7B95DDA6AD62}"/>
              </a:ext>
            </a:extLst>
          </p:cNvPr>
          <p:cNvSpPr/>
          <p:nvPr/>
        </p:nvSpPr>
        <p:spPr>
          <a:xfrm>
            <a:off x="0" y="431800"/>
            <a:ext cx="12192000" cy="38100"/>
          </a:xfrm>
          <a:prstGeom prst="rect">
            <a:avLst/>
          </a:prstGeom>
          <a:solidFill>
            <a:srgbClr val="2563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MC_THEME_FOOTER_L">
            <a:extLst>
              <a:ext uri="{FF2B5EF4-FFF2-40B4-BE49-F238E27FC236}">
                <a16:creationId xmlns:a16="http://schemas.microsoft.com/office/drawing/2014/main" id="{D4A31CE5-CA72-B662-1F1F-D47B3B8E5E52}"/>
              </a:ext>
            </a:extLst>
          </p:cNvPr>
          <p:cNvSpPr txBox="1"/>
          <p:nvPr/>
        </p:nvSpPr>
        <p:spPr>
          <a:xfrm>
            <a:off x="330200" y="6540500"/>
            <a:ext cx="457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 dirty="0">
                <a:solidFill>
                  <a:srgbClr val="64748B"/>
                </a:solidFill>
                <a:latin typeface="Aptos" panose="020B0004020202020204" pitchFamily="34" charset="0"/>
              </a:rPr>
              <a:t>Mean Chat | TFC Desarrollo Web</a:t>
            </a:r>
          </a:p>
        </p:txBody>
      </p:sp>
      <p:sp>
        <p:nvSpPr>
          <p:cNvPr id="8" name="MC_THEME_FOOTER_R">
            <a:extLst>
              <a:ext uri="{FF2B5EF4-FFF2-40B4-BE49-F238E27FC236}">
                <a16:creationId xmlns:a16="http://schemas.microsoft.com/office/drawing/2014/main" id="{D56D3D20-E963-1754-74F8-0B4B431EAECA}"/>
              </a:ext>
            </a:extLst>
          </p:cNvPr>
          <p:cNvSpPr txBox="1"/>
          <p:nvPr/>
        </p:nvSpPr>
        <p:spPr>
          <a:xfrm>
            <a:off x="11176000" y="6540500"/>
            <a:ext cx="7112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s-ES" sz="1000">
                <a:solidFill>
                  <a:srgbClr val="64748B"/>
                </a:solidFill>
                <a:latin typeface="Aptos" panose="020B0004020202020204" pitchFamily="34" charset="0"/>
              </a:rPr>
              <a:t>18/20</a:t>
            </a:r>
          </a:p>
        </p:txBody>
      </p:sp>
    </p:spTree>
    <p:extLst>
      <p:ext uri="{BB962C8B-B14F-4D97-AF65-F5344CB8AC3E}">
        <p14:creationId xmlns:p14="http://schemas.microsoft.com/office/powerpoint/2010/main" val="3795825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>
      <p:transition spd="slow">
        <p:fade thruBlk="1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C_THEME_CARD">
            <a:extLst>
              <a:ext uri="{FF2B5EF4-FFF2-40B4-BE49-F238E27FC236}">
                <a16:creationId xmlns:a16="http://schemas.microsoft.com/office/drawing/2014/main" id="{42749F57-442E-B8D8-99D2-D8E06DDFF76B}"/>
              </a:ext>
            </a:extLst>
          </p:cNvPr>
          <p:cNvSpPr/>
          <p:nvPr/>
        </p:nvSpPr>
        <p:spPr>
          <a:xfrm>
            <a:off x="304800" y="1244600"/>
            <a:ext cx="115824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D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C584F38-D223-8F26-C9A1-F0C13A1A4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58800"/>
            <a:ext cx="11226800" cy="685800"/>
          </a:xfrm>
        </p:spPr>
        <p:txBody>
          <a:bodyPr>
            <a:normAutofit/>
          </a:bodyPr>
          <a:lstStyle/>
          <a:p>
            <a:r>
              <a:rPr lang="es-ES" sz="3400" b="1">
                <a:solidFill>
                  <a:srgbClr val="1E293B"/>
                </a:solidFill>
                <a:latin typeface="Aptos Display" panose="020B0004020202020204" pitchFamily="34" charset="0"/>
              </a:rPr>
              <a:t>Roadmap de mejoras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485CA5-1DF5-40DB-A6E9-3EB411F21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676400"/>
            <a:ext cx="10871200" cy="4140200"/>
          </a:xfrm>
        </p:spPr>
        <p:txBody>
          <a:bodyPr>
            <a:norm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Prioridad alta: ampliar tests unitarios e integracion.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Prioridad alta: pipeline CI/CD para despliegue continuo.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Prioridad media: notificaciones push y presencia online.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Prioridad media: endurecimiento para produccion.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Prioridad exploratoria: cifrado E2E y cliente movil nativo.</a:t>
            </a:r>
          </a:p>
        </p:txBody>
      </p:sp>
      <p:sp>
        <p:nvSpPr>
          <p:cNvPr id="4" name="MC_THEME_TOPBAND">
            <a:extLst>
              <a:ext uri="{FF2B5EF4-FFF2-40B4-BE49-F238E27FC236}">
                <a16:creationId xmlns:a16="http://schemas.microsoft.com/office/drawing/2014/main" id="{4B1C47A6-19B7-0E81-0E4D-A8563F5664DE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C_THEME_TOPLINE">
            <a:extLst>
              <a:ext uri="{FF2B5EF4-FFF2-40B4-BE49-F238E27FC236}">
                <a16:creationId xmlns:a16="http://schemas.microsoft.com/office/drawing/2014/main" id="{3AC90A2A-E14A-E6AE-7AB6-226FFC91AD05}"/>
              </a:ext>
            </a:extLst>
          </p:cNvPr>
          <p:cNvSpPr/>
          <p:nvPr/>
        </p:nvSpPr>
        <p:spPr>
          <a:xfrm>
            <a:off x="0" y="431800"/>
            <a:ext cx="12192000" cy="38100"/>
          </a:xfrm>
          <a:prstGeom prst="rect">
            <a:avLst/>
          </a:prstGeom>
          <a:solidFill>
            <a:srgbClr val="2563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MC_THEME_FOOTER_L">
            <a:extLst>
              <a:ext uri="{FF2B5EF4-FFF2-40B4-BE49-F238E27FC236}">
                <a16:creationId xmlns:a16="http://schemas.microsoft.com/office/drawing/2014/main" id="{0302292A-C04C-67F8-0BCF-4B9438A28037}"/>
              </a:ext>
            </a:extLst>
          </p:cNvPr>
          <p:cNvSpPr txBox="1"/>
          <p:nvPr/>
        </p:nvSpPr>
        <p:spPr>
          <a:xfrm>
            <a:off x="330200" y="6540500"/>
            <a:ext cx="457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 dirty="0">
                <a:solidFill>
                  <a:srgbClr val="64748B"/>
                </a:solidFill>
                <a:latin typeface="Aptos" panose="020B0004020202020204" pitchFamily="34" charset="0"/>
              </a:rPr>
              <a:t>Mean Chat | TFC Desarrollo Web</a:t>
            </a:r>
          </a:p>
        </p:txBody>
      </p:sp>
      <p:sp>
        <p:nvSpPr>
          <p:cNvPr id="8" name="MC_THEME_FOOTER_R">
            <a:extLst>
              <a:ext uri="{FF2B5EF4-FFF2-40B4-BE49-F238E27FC236}">
                <a16:creationId xmlns:a16="http://schemas.microsoft.com/office/drawing/2014/main" id="{20888519-ADA8-27A4-878D-8F6A0A45659B}"/>
              </a:ext>
            </a:extLst>
          </p:cNvPr>
          <p:cNvSpPr txBox="1"/>
          <p:nvPr/>
        </p:nvSpPr>
        <p:spPr>
          <a:xfrm>
            <a:off x="11176000" y="6540500"/>
            <a:ext cx="7112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s-ES" sz="1000">
                <a:solidFill>
                  <a:srgbClr val="64748B"/>
                </a:solidFill>
                <a:latin typeface="Aptos" panose="020B0004020202020204" pitchFamily="34" charset="0"/>
              </a:rPr>
              <a:t>19/20</a:t>
            </a:r>
          </a:p>
        </p:txBody>
      </p:sp>
    </p:spTree>
    <p:extLst>
      <p:ext uri="{BB962C8B-B14F-4D97-AF65-F5344CB8AC3E}">
        <p14:creationId xmlns:p14="http://schemas.microsoft.com/office/powerpoint/2010/main" val="100743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>
      <p:transition spd="slow">
        <p:fade thruBlk="1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C_THEME_CARD">
            <a:extLst>
              <a:ext uri="{FF2B5EF4-FFF2-40B4-BE49-F238E27FC236}">
                <a16:creationId xmlns:a16="http://schemas.microsoft.com/office/drawing/2014/main" id="{8B0D329E-61A6-8F08-C5A5-3A4240B35CA2}"/>
              </a:ext>
            </a:extLst>
          </p:cNvPr>
          <p:cNvSpPr/>
          <p:nvPr/>
        </p:nvSpPr>
        <p:spPr>
          <a:xfrm>
            <a:off x="304800" y="1244600"/>
            <a:ext cx="115824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D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343FE8A-4FE1-C075-1D31-30F31AC61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58800"/>
            <a:ext cx="11226800" cy="685800"/>
          </a:xfrm>
        </p:spPr>
        <p:txBody>
          <a:bodyPr>
            <a:normAutofit/>
          </a:bodyPr>
          <a:lstStyle/>
          <a:p>
            <a:r>
              <a:rPr lang="es-ES" sz="3400" b="1">
                <a:solidFill>
                  <a:srgbClr val="1E293B"/>
                </a:solidFill>
                <a:latin typeface="Aptos Display" panose="020B0004020202020204" pitchFamily="34" charset="0"/>
              </a:rPr>
              <a:t>Conclusiones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0317C6A-9F07-ACC1-E67F-EF52E5CC0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676400"/>
            <a:ext cx="10871200" cy="4140200"/>
          </a:xfrm>
        </p:spPr>
        <p:txBody>
          <a:bodyPr>
            <a:norm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 dirty="0">
                <a:solidFill>
                  <a:srgbClr val="334155"/>
                </a:solidFill>
                <a:latin typeface="Aptos" panose="020B0004020202020204" pitchFamily="34" charset="0"/>
              </a:rPr>
              <a:t>Mean Chat demuestra dominio full </a:t>
            </a:r>
            <a:r>
              <a:rPr lang="es-ES" sz="2200" dirty="0" err="1">
                <a:solidFill>
                  <a:srgbClr val="334155"/>
                </a:solidFill>
                <a:latin typeface="Aptos" panose="020B0004020202020204" pitchFamily="34" charset="0"/>
              </a:rPr>
              <a:t>stack</a:t>
            </a:r>
            <a:r>
              <a:rPr lang="es-ES" sz="2200" dirty="0">
                <a:solidFill>
                  <a:srgbClr val="334155"/>
                </a:solidFill>
                <a:latin typeface="Aptos" panose="020B0004020202020204" pitchFamily="34" charset="0"/>
              </a:rPr>
              <a:t> aplicado.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 dirty="0">
                <a:solidFill>
                  <a:srgbClr val="334155"/>
                </a:solidFill>
                <a:latin typeface="Aptos" panose="020B0004020202020204" pitchFamily="34" charset="0"/>
              </a:rPr>
              <a:t>Arquitectura reproducible, defendible y escalable en complejidad.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 dirty="0">
                <a:solidFill>
                  <a:srgbClr val="334155"/>
                </a:solidFill>
                <a:latin typeface="Aptos" panose="020B0004020202020204" pitchFamily="34" charset="0"/>
              </a:rPr>
              <a:t>Aprendizaje clave: tiempo real + seguridad + despliegue integral.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 dirty="0">
                <a:solidFill>
                  <a:srgbClr val="334155"/>
                </a:solidFill>
                <a:latin typeface="Aptos" panose="020B0004020202020204" pitchFamily="34" charset="0"/>
              </a:rPr>
              <a:t>El sistema funciona y esta preparado para evolucionar.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s-ES" sz="2200">
                <a:solidFill>
                  <a:srgbClr val="334155"/>
                </a:solidFill>
                <a:latin typeface="Aptos" panose="020B0004020202020204" pitchFamily="34" charset="0"/>
              </a:rPr>
              <a:t>Preguntas.</a:t>
            </a:r>
          </a:p>
        </p:txBody>
      </p:sp>
      <p:sp>
        <p:nvSpPr>
          <p:cNvPr id="4" name="MC_THEME_TOPBAND">
            <a:extLst>
              <a:ext uri="{FF2B5EF4-FFF2-40B4-BE49-F238E27FC236}">
                <a16:creationId xmlns:a16="http://schemas.microsoft.com/office/drawing/2014/main" id="{BFAFF8A0-315C-F8CA-C44F-2D24FFF57E0D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C_THEME_TOPLINE">
            <a:extLst>
              <a:ext uri="{FF2B5EF4-FFF2-40B4-BE49-F238E27FC236}">
                <a16:creationId xmlns:a16="http://schemas.microsoft.com/office/drawing/2014/main" id="{5AB98D3E-3856-0B93-E0B2-F5D25C90409B}"/>
              </a:ext>
            </a:extLst>
          </p:cNvPr>
          <p:cNvSpPr/>
          <p:nvPr/>
        </p:nvSpPr>
        <p:spPr>
          <a:xfrm>
            <a:off x="0" y="431800"/>
            <a:ext cx="12192000" cy="38100"/>
          </a:xfrm>
          <a:prstGeom prst="rect">
            <a:avLst/>
          </a:prstGeom>
          <a:solidFill>
            <a:srgbClr val="2563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MC_THEME_FOOTER_L">
            <a:extLst>
              <a:ext uri="{FF2B5EF4-FFF2-40B4-BE49-F238E27FC236}">
                <a16:creationId xmlns:a16="http://schemas.microsoft.com/office/drawing/2014/main" id="{80D50D77-96BD-66C3-465E-69804BB29524}"/>
              </a:ext>
            </a:extLst>
          </p:cNvPr>
          <p:cNvSpPr txBox="1"/>
          <p:nvPr/>
        </p:nvSpPr>
        <p:spPr>
          <a:xfrm>
            <a:off x="330200" y="6540500"/>
            <a:ext cx="457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 dirty="0">
                <a:solidFill>
                  <a:srgbClr val="64748B"/>
                </a:solidFill>
                <a:latin typeface="Aptos" panose="020B0004020202020204" pitchFamily="34" charset="0"/>
              </a:rPr>
              <a:t>Mean Chat | TFC Desarrollo Web</a:t>
            </a:r>
          </a:p>
        </p:txBody>
      </p:sp>
      <p:sp>
        <p:nvSpPr>
          <p:cNvPr id="8" name="MC_THEME_FOOTER_R">
            <a:extLst>
              <a:ext uri="{FF2B5EF4-FFF2-40B4-BE49-F238E27FC236}">
                <a16:creationId xmlns:a16="http://schemas.microsoft.com/office/drawing/2014/main" id="{5AA1F869-3186-D66A-7421-9C3D6A6D605D}"/>
              </a:ext>
            </a:extLst>
          </p:cNvPr>
          <p:cNvSpPr txBox="1"/>
          <p:nvPr/>
        </p:nvSpPr>
        <p:spPr>
          <a:xfrm>
            <a:off x="11176000" y="6540500"/>
            <a:ext cx="7112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s-ES" sz="1000">
                <a:solidFill>
                  <a:srgbClr val="64748B"/>
                </a:solidFill>
                <a:latin typeface="Aptos" panose="020B0004020202020204" pitchFamily="34" charset="0"/>
              </a:rPr>
              <a:t>20/20</a:t>
            </a:r>
          </a:p>
        </p:txBody>
      </p:sp>
    </p:spTree>
    <p:extLst>
      <p:ext uri="{BB962C8B-B14F-4D97-AF65-F5344CB8AC3E}">
        <p14:creationId xmlns:p14="http://schemas.microsoft.com/office/powerpoint/2010/main" val="3863191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>
      <p:transition spd="slow">
        <p:fade thruBlk="1"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1349</Words>
  <Application>Microsoft Office PowerPoint</Application>
  <PresentationFormat>Panorámica</PresentationFormat>
  <Paragraphs>189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Tema de Office</vt:lpstr>
      <vt:lpstr>Mean Chat</vt:lpstr>
      <vt:lpstr>El problema y la oportunidad</vt:lpstr>
      <vt:lpstr>Objetivos del proyecto</vt:lpstr>
      <vt:lpstr>Alcance y limites</vt:lpstr>
      <vt:lpstr>Vision general de la solucion</vt:lpstr>
      <vt:lpstr>Arquitectura general del sistema</vt:lpstr>
      <vt:lpstr>Frontend: Angular 21 + Ionic</vt:lpstr>
      <vt:lpstr>Backend: Express + Socket.IO + Mongoose</vt:lpstr>
      <vt:lpstr>BBDD: modelo real</vt:lpstr>
      <vt:lpstr>Flujo de autenticacion (JWT)</vt:lpstr>
      <vt:lpstr>Flujo de mensajeria en tiempo real</vt:lpstr>
      <vt:lpstr>API REST principal (real)</vt:lpstr>
      <vt:lpstr>Eventos Socket.IO</vt:lpstr>
      <vt:lpstr>Dockerizacion y despliegue local</vt:lpstr>
      <vt:lpstr>Seguridad aplicada</vt:lpstr>
      <vt:lpstr>Retos criticos y soluciones</vt:lpstr>
      <vt:lpstr>Demo guiada y validacion</vt:lpstr>
      <vt:lpstr>Resultados obtenidos</vt:lpstr>
      <vt:lpstr>Roadmap de mejoras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Jonás Martínez Cuesta</dc:creator>
  <cp:lastModifiedBy>Jonás Martínez Cuesta</cp:lastModifiedBy>
  <cp:revision>4</cp:revision>
  <dcterms:created xsi:type="dcterms:W3CDTF">2026-05-21T16:59:43Z</dcterms:created>
  <dcterms:modified xsi:type="dcterms:W3CDTF">2026-05-21T17:06:42Z</dcterms:modified>
</cp:coreProperties>
</file>